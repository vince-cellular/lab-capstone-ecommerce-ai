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jpe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jpe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jpeg"/><Relationship Id="rId8" Type="http://schemas.openxmlformats.org/officeDocument/2006/relationships/image" Target="../media/image-9-8.jpeg"/><Relationship Id="rId9" Type="http://schemas.openxmlformats.org/officeDocument/2006/relationships/image" Target="../media/image-9-9.jpe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image" Target="../media/image-11-7.jpe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3.png"/><Relationship Id="rId4" Type="http://schemas.openxmlformats.org/officeDocument/2006/relationships/image" Target="../media/image-15-4.svg"/><Relationship Id="rId5" Type="http://schemas.openxmlformats.org/officeDocument/2006/relationships/image" Target="../media/image-15-5.png"/><Relationship Id="rId6" Type="http://schemas.openxmlformats.org/officeDocument/2006/relationships/image" Target="../media/image-15-6.sv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6EE"/>
        </a:solidFill>
      </p:bgPr>
    </p:bg>
    <p:spTree>
      <p:nvGrpSpPr>
        <p:cNvPr id="1" name=""/>
        <p:cNvGrpSpPr/>
        <p:nvPr/>
      </p:nvGrpSpPr>
      <p:grpSpPr>
        <a:xfrm>
          <a:off x="0" y="0"/>
          <a:ext cx="0" cy="0"/>
          <a:chOff x="0" y="0"/>
          <a:chExt cx="0" cy="0"/>
        </a:xfrm>
      </p:grpSpPr>
      <p:sp>
        <p:nvSpPr>
          <p:cNvPr id="2" name="Shape 0"/>
          <p:cNvSpPr/>
          <p:nvPr/>
        </p:nvSpPr>
        <p:spPr>
          <a:xfrm>
            <a:off x="507987" y="5333867"/>
            <a:ext cx="1269968" cy="1269968"/>
          </a:xfrm>
          <a:prstGeom prst="ellipse">
            <a:avLst/>
          </a:prstGeom>
          <a:solidFill>
            <a:srgbClr val="7C3AED">
              <a:alpha val="8000"/>
            </a:srgbClr>
          </a:solidFill>
          <a:ln/>
        </p:spPr>
      </p:sp>
      <p:sp>
        <p:nvSpPr>
          <p:cNvPr id="3" name="Shape 1"/>
          <p:cNvSpPr/>
          <p:nvPr/>
        </p:nvSpPr>
        <p:spPr>
          <a:xfrm>
            <a:off x="10413740" y="507987"/>
            <a:ext cx="1523962" cy="1523962"/>
          </a:xfrm>
          <a:prstGeom prst="ellipse">
            <a:avLst/>
          </a:prstGeom>
          <a:solidFill>
            <a:srgbClr val="E88C6F">
              <a:alpha val="10000"/>
            </a:srgbClr>
          </a:solidFill>
          <a:ln/>
        </p:spPr>
      </p:sp>
      <p:sp>
        <p:nvSpPr>
          <p:cNvPr id="4" name="Shape 2"/>
          <p:cNvSpPr/>
          <p:nvPr/>
        </p:nvSpPr>
        <p:spPr>
          <a:xfrm>
            <a:off x="761981" y="761981"/>
            <a:ext cx="761981" cy="761981"/>
          </a:xfrm>
          <a:prstGeom prst="ellipse">
            <a:avLst/>
          </a:prstGeom>
          <a:solidFill>
            <a:srgbClr val="C74B91">
              <a:alpha val="12000"/>
            </a:srgbClr>
          </a:solidFill>
          <a:ln/>
        </p:spPr>
      </p:sp>
      <p:pic>
        <p:nvPicPr>
          <p:cNvPr id="5" name="Image 0" descr="preencoded.png">    </p:cNvPr>
          <p:cNvPicPr>
            <a:picLocks noChangeAspect="1"/>
          </p:cNvPicPr>
          <p:nvPr/>
        </p:nvPicPr>
        <p:blipFill>
          <a:blip r:embed="rId1"/>
          <a:srcRect l="0" r="0" t="0" b="0"/>
          <a:stretch/>
        </p:blipFill>
        <p:spPr>
          <a:xfrm>
            <a:off x="3555911" y="6730832"/>
            <a:ext cx="5079873" cy="81448"/>
          </a:xfrm>
          <a:prstGeom prst="rect">
            <a:avLst/>
          </a:prstGeom>
        </p:spPr>
      </p:pic>
      <p:sp>
        <p:nvSpPr>
          <p:cNvPr id="6" name="Text 3"/>
          <p:cNvSpPr/>
          <p:nvPr/>
        </p:nvSpPr>
        <p:spPr>
          <a:xfrm>
            <a:off x="1015975" y="1904952"/>
            <a:ext cx="9905752" cy="1523962"/>
          </a:xfrm>
          <a:prstGeom prst="rect">
            <a:avLst/>
          </a:prstGeom>
          <a:noFill/>
          <a:ln/>
        </p:spPr>
        <p:txBody>
          <a:bodyPr wrap="square" lIns="1016" tIns="1016" rIns="1016" bIns="1016" rtlCol="0" anchor="t"/>
          <a:lstStyle/>
          <a:p>
            <a:pPr algn="l" indent="0" marL="0">
              <a:lnSpc>
                <a:spcPct val="130000"/>
              </a:lnSpc>
              <a:buNone/>
            </a:pPr>
            <a:r>
              <a:rPr lang="en-US" sz="4100" b="1" dirty="0">
                <a:solidFill>
                  <a:srgbClr val="7C3AED"/>
                </a:solidFill>
                <a:latin typeface="Segoe UI" pitchFamily="34" charset="0"/>
                <a:ea typeface="Segoe UI" pitchFamily="34" charset="-122"/>
                <a:cs typeface="Segoe UI" pitchFamily="34" charset="-120"/>
              </a:rPr>
              <a:t>NOVA AI: Transforming E-commerce Engagement</a:t>
            </a:r>
            <a:pPr algn="l" indent="0" marL="0">
              <a:lnSpc>
                <a:spcPct val="130000"/>
              </a:lnSpc>
              <a:buNone/>
            </a:pPr>
            <a:r>
              <a:rPr lang="en-US" sz="4100" dirty="0">
                <a:solidFill>
                  <a:srgbClr val="7C3AED"/>
                </a:solidFill>
                <a:latin typeface="Segoe UI" pitchFamily="34" charset="0"/>
                <a:ea typeface="Segoe UI" pitchFamily="34" charset="-122"/>
                <a:cs typeface="Segoe UI" pitchFamily="34" charset="-120"/>
              </a:rPr>
              <a:t>
</a:t>
            </a:r>
            <a:endParaRPr lang="en-US" sz="4100" dirty="0"/>
          </a:p>
        </p:txBody>
      </p:sp>
      <p:sp>
        <p:nvSpPr>
          <p:cNvPr id="7" name="Text 4"/>
          <p:cNvSpPr/>
          <p:nvPr/>
        </p:nvSpPr>
        <p:spPr>
          <a:xfrm>
            <a:off x="1015975" y="3733707"/>
            <a:ext cx="8127797" cy="812780"/>
          </a:xfrm>
          <a:prstGeom prst="rect">
            <a:avLst/>
          </a:prstGeom>
          <a:noFill/>
          <a:ln/>
        </p:spPr>
        <p:txBody>
          <a:bodyPr wrap="square" lIns="1016" tIns="1016" rIns="1016" bIns="1016" rtlCol="0" anchor="t"/>
          <a:lstStyle/>
          <a:p>
            <a:pPr algn="l" indent="0" marL="0">
              <a:lnSpc>
                <a:spcPct val="130000"/>
              </a:lnSpc>
              <a:buNone/>
            </a:pPr>
            <a:r>
              <a:rPr lang="en-US" sz="1700" i="1" dirty="0">
                <a:solidFill>
                  <a:srgbClr val="475569"/>
                </a:solidFill>
                <a:latin typeface="Calibri" pitchFamily="34" charset="0"/>
                <a:ea typeface="Calibri" pitchFamily="34" charset="-122"/>
                <a:cs typeface="Calibri" pitchFamily="34" charset="-120"/>
              </a:rPr>
              <a:t>A comprehensive guide for Advanced, E-commerce Platform Managers</a:t>
            </a:r>
            <a:pPr algn="l" indent="0" marL="0">
              <a:lnSpc>
                <a:spcPct val="130000"/>
              </a:lnSpc>
              <a:buNone/>
            </a:pPr>
            <a:r>
              <a:rPr lang="en-US" sz="1700" dirty="0">
                <a:solidFill>
                  <a:srgbClr val="475569"/>
                </a:solidFill>
                <a:latin typeface="Calibri" pitchFamily="34" charset="0"/>
                <a:ea typeface="Calibri" pitchFamily="34" charset="-122"/>
                <a:cs typeface="Calibri" pitchFamily="34" charset="-120"/>
              </a:rPr>
              <a:t>
</a:t>
            </a:r>
            <a:endParaRPr lang="en-US" sz="1700" dirty="0"/>
          </a:p>
        </p:txBody>
      </p:sp>
      <p:sp>
        <p:nvSpPr>
          <p:cNvPr id="8" name="Text 5"/>
          <p:cNvSpPr/>
          <p:nvPr/>
        </p:nvSpPr>
        <p:spPr>
          <a:xfrm>
            <a:off x="1015975" y="6476838"/>
            <a:ext cx="3809905" cy="304792"/>
          </a:xfrm>
          <a:prstGeom prst="rect">
            <a:avLst/>
          </a:prstGeom>
          <a:noFill/>
          <a:ln/>
        </p:spPr>
        <p:txBody>
          <a:bodyPr wrap="square" lIns="1016" tIns="1016" rIns="1016" bIns="1016" rtlCol="0" anchor="t"/>
          <a:lstStyle/>
          <a:p>
            <a:pPr algn="l" indent="0" marL="0">
              <a:lnSpc>
                <a:spcPct val="130000"/>
              </a:lnSpc>
              <a:buNone/>
            </a:pPr>
            <a:r>
              <a:rPr lang="en-US" sz="1400" dirty="0">
                <a:solidFill>
                  <a:srgbClr val="334155"/>
                </a:solidFill>
                <a:latin typeface="Calibri" pitchFamily="34" charset="0"/>
                <a:ea typeface="Calibri" pitchFamily="34" charset="-122"/>
                <a:cs typeface="Calibri" pitchFamily="34" charset="-120"/>
              </a:rPr>
              <a:t>Vincent de Paul NZOTEGOUONG</a:t>
            </a:r>
            <a:pPr algn="l" indent="0" marL="0">
              <a:lnSpc>
                <a:spcPct val="130000"/>
              </a:lnSpc>
              <a:buNone/>
            </a:pPr>
            <a:r>
              <a:rPr lang="en-US" sz="1400" dirty="0">
                <a:solidFill>
                  <a:srgbClr val="334155"/>
                </a:solidFill>
                <a:latin typeface="Calibri" pitchFamily="34" charset="0"/>
                <a:ea typeface="Calibri" pitchFamily="34" charset="-122"/>
                <a:cs typeface="Calibri" pitchFamily="34" charset="-120"/>
              </a:rPr>
              <a:t>
</a:t>
            </a:r>
            <a:endParaRPr lang="en-US" sz="1400" dirty="0"/>
          </a:p>
        </p:txBody>
      </p:sp>
      <p:sp>
        <p:nvSpPr>
          <p:cNvPr id="9" name="Text 6"/>
          <p:cNvSpPr/>
          <p:nvPr/>
        </p:nvSpPr>
        <p:spPr>
          <a:xfrm>
            <a:off x="1015975" y="6146646"/>
            <a:ext cx="5333867" cy="279393"/>
          </a:xfrm>
          <a:prstGeom prst="rect">
            <a:avLst/>
          </a:prstGeom>
          <a:noFill/>
          <a:ln/>
        </p:spPr>
        <p:txBody>
          <a:bodyPr wrap="square" lIns="1016" tIns="1016" rIns="1016" bIns="1016" rtlCol="0" anchor="t"/>
          <a:lstStyle/>
          <a:p>
            <a:pPr algn="l" indent="0" marL="0">
              <a:lnSpc>
                <a:spcPct val="130000"/>
              </a:lnSpc>
              <a:buNone/>
            </a:pPr>
            <a:r>
              <a:rPr lang="en-US" sz="1200" dirty="0">
                <a:solidFill>
                  <a:srgbClr val="475569"/>
                </a:solidFill>
                <a:latin typeface="Calibri" pitchFamily="34" charset="0"/>
                <a:ea typeface="Calibri" pitchFamily="34" charset="-122"/>
                <a:cs typeface="Calibri" pitchFamily="34" charset="-120"/>
              </a:rPr>
              <a:t>Vivatech AI</a:t>
            </a:r>
            <a:pPr algn="l" indent="0" marL="0">
              <a:lnSpc>
                <a:spcPct val="130000"/>
              </a:lnSpc>
              <a:buNone/>
            </a:pPr>
            <a:r>
              <a:rPr lang="en-US" sz="1200" dirty="0">
                <a:solidFill>
                  <a:srgbClr val="475569"/>
                </a:solidFill>
                <a:latin typeface="Calibri" pitchFamily="34" charset="0"/>
                <a:ea typeface="Calibri" pitchFamily="34" charset="-122"/>
                <a:cs typeface="Calibri" pitchFamily="34" charset="-120"/>
              </a:rPr>
              <a:t>
</a:t>
            </a:r>
            <a:endParaRPr lang="en-US" sz="1200" dirty="0"/>
          </a:p>
        </p:txBody>
      </p:sp>
      <p:sp>
        <p:nvSpPr>
          <p:cNvPr id="10" name="Text 7"/>
          <p:cNvSpPr/>
          <p:nvPr/>
        </p:nvSpPr>
        <p:spPr>
          <a:xfrm>
            <a:off x="4952876" y="6502237"/>
            <a:ext cx="3047924" cy="279393"/>
          </a:xfrm>
          <a:prstGeom prst="rect">
            <a:avLst/>
          </a:prstGeom>
          <a:noFill/>
          <a:ln/>
        </p:spPr>
        <p:txBody>
          <a:bodyPr wrap="square" lIns="1016" tIns="1016" rIns="1016" bIns="1016" rtlCol="0" anchor="t"/>
          <a:lstStyle/>
          <a:p>
            <a:pPr algn="l" indent="0" marL="0">
              <a:lnSpc>
                <a:spcPct val="130000"/>
              </a:lnSpc>
              <a:buNone/>
            </a:pPr>
            <a:r>
              <a:rPr lang="en-US" sz="1200" dirty="0">
                <a:solidFill>
                  <a:srgbClr val="64748B"/>
                </a:solidFill>
                <a:latin typeface="Calibri" pitchFamily="34" charset="0"/>
                <a:ea typeface="Calibri" pitchFamily="34" charset="-122"/>
                <a:cs typeface="Calibri" pitchFamily="34" charset="-120"/>
              </a:rPr>
              <a:t>September 04, 2026</a:t>
            </a:r>
            <a:pPr algn="l" indent="0" marL="0">
              <a:lnSpc>
                <a:spcPct val="130000"/>
              </a:lnSpc>
              <a:buNone/>
            </a:pPr>
            <a:r>
              <a:rPr lang="en-US" sz="1200" dirty="0">
                <a:solidFill>
                  <a:srgbClr val="64748B"/>
                </a:solidFill>
                <a:latin typeface="Calibri" pitchFamily="34" charset="0"/>
                <a:ea typeface="Calibri" pitchFamily="34" charset="-122"/>
                <a:cs typeface="Calibri" pitchFamily="34" charset="-120"/>
              </a:rPr>
              <a:t>
</a:t>
            </a:r>
            <a:endParaRPr lang="en-US" sz="1200" dirty="0"/>
          </a:p>
        </p:txBody>
      </p:sp>
      <p:pic>
        <p:nvPicPr>
          <p:cNvPr id="11" name="Image 1" descr="preencoded.png">    </p:cNvPr>
          <p:cNvPicPr>
            <a:picLocks noChangeAspect="1"/>
          </p:cNvPicPr>
          <p:nvPr/>
        </p:nvPicPr>
        <p:blipFill>
          <a:blip r:embed="rId2"/>
          <a:srcRect l="0" r="0" t="0" b="0"/>
          <a:stretch/>
        </p:blipFill>
        <p:spPr>
          <a:xfrm>
            <a:off x="0" y="0"/>
            <a:ext cx="12145975" cy="101597"/>
          </a:xfrm>
          <a:prstGeom prst="rect">
            <a:avLst/>
          </a:prstGeom>
        </p:spPr>
      </p:pic>
      <p:sp>
        <p:nvSpPr>
          <p:cNvPr id="12" name="Shape 8"/>
          <p:cNvSpPr/>
          <p:nvPr/>
        </p:nvSpPr>
        <p:spPr>
          <a:xfrm>
            <a:off x="1015975" y="1600160"/>
            <a:ext cx="711182" cy="63498"/>
          </a:xfrm>
          <a:prstGeom prst="rect">
            <a:avLst/>
          </a:prstGeom>
          <a:solidFill>
            <a:srgbClr val="7C3AED"/>
          </a:solidFill>
          <a:ln/>
        </p:spPr>
      </p:sp>
      <p:sp>
        <p:nvSpPr>
          <p:cNvPr id="13" name="Text 9"/>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6E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5486263" cy="6812280"/>
          </a:xfrm>
          <a:prstGeom prst="rect">
            <a:avLst/>
          </a:prstGeom>
        </p:spPr>
      </p:pic>
      <p:sp>
        <p:nvSpPr>
          <p:cNvPr id="3" name="Text 0"/>
          <p:cNvSpPr/>
          <p:nvPr/>
        </p:nvSpPr>
        <p:spPr>
          <a:xfrm>
            <a:off x="6299043" y="1803355"/>
            <a:ext cx="5079873" cy="1790655"/>
          </a:xfrm>
          <a:prstGeom prst="rect">
            <a:avLst/>
          </a:prstGeom>
          <a:noFill/>
          <a:ln/>
        </p:spPr>
        <p:txBody>
          <a:bodyPr wrap="square" lIns="1016" tIns="1016" rIns="1016" bIns="1016" rtlCol="0" anchor="t"/>
          <a:lstStyle/>
          <a:p>
            <a:pPr algn="l" indent="0" marL="0">
              <a:lnSpc>
                <a:spcPct val="120000"/>
              </a:lnSpc>
              <a:buNone/>
            </a:pPr>
            <a:r>
              <a:rPr lang="en-US" sz="3200" b="1" dirty="0">
                <a:solidFill>
                  <a:srgbClr val="7C3AED"/>
                </a:solidFill>
                <a:latin typeface="Segoe UI" pitchFamily="34" charset="0"/>
                <a:ea typeface="Segoe UI" pitchFamily="34" charset="-122"/>
                <a:cs typeface="Segoe UI" pitchFamily="34" charset="-120"/>
              </a:rPr>
              <a:t>NOVA AI: Transforming E-commerce Engagement
</a:t>
            </a:r>
            <a:endParaRPr lang="en-US" sz="3200" dirty="0"/>
          </a:p>
        </p:txBody>
      </p:sp>
      <p:sp>
        <p:nvSpPr>
          <p:cNvPr id="4" name="Text 1"/>
          <p:cNvSpPr/>
          <p:nvPr/>
        </p:nvSpPr>
        <p:spPr>
          <a:xfrm>
            <a:off x="6299043" y="3873403"/>
            <a:ext cx="5079873" cy="2095448"/>
          </a:xfrm>
          <a:prstGeom prst="rect">
            <a:avLst/>
          </a:prstGeom>
          <a:noFill/>
          <a:ln/>
        </p:spPr>
        <p:txBody>
          <a:bodyPr wrap="square" lIns="1016" tIns="1016" rIns="1016" bIns="1016" rtlCol="0" anchor="t"/>
          <a:lstStyle/>
          <a:p>
            <a:pPr algn="l" indent="0" marL="0">
              <a:lnSpc>
                <a:spcPct val="150000"/>
              </a:lnSpc>
              <a:buNone/>
            </a:pPr>
            <a:r>
              <a:rPr lang="en-US" sz="1300" dirty="0">
                <a:solidFill>
                  <a:srgbClr val="475569"/>
                </a:solidFill>
                <a:latin typeface="Calibri" pitchFamily="34" charset="0"/>
                <a:ea typeface="Calibri" pitchFamily="34" charset="-122"/>
                <a:cs typeface="Calibri" pitchFamily="34" charset="-120"/>
              </a:rPr>
              <a:t>Welcome to the NOVA AI presentation, where we explore an innovative AI-powered solution designed to enhance e-commerce conversion rates and recover abandoned carts. By intelligently analyzing visitor behavior, NOVA AI tailors interventions to individual contexts, ensuring that each customer receives the most relevant assistance. This presentation will cover the business challenges faced by e-commerce platforms, the AI-driven solution we propose, and the roadmap for implementation and compliance. Join us as we delve into the future of personalized online shopping experiences.
</a:t>
            </a:r>
            <a:endParaRPr lang="en-US" sz="1300" dirty="0"/>
          </a:p>
        </p:txBody>
      </p:sp>
      <p:sp>
        <p:nvSpPr>
          <p:cNvPr id="5" name="Shape 2"/>
          <p:cNvSpPr/>
          <p:nvPr/>
        </p:nvSpPr>
        <p:spPr>
          <a:xfrm>
            <a:off x="6299043" y="1498563"/>
            <a:ext cx="711182" cy="63498"/>
          </a:xfrm>
          <a:prstGeom prst="rect">
            <a:avLst/>
          </a:prstGeom>
          <a:solidFill>
            <a:srgbClr val="7C3AED"/>
          </a:solidFill>
          <a:ln/>
        </p:spPr>
      </p:sp>
      <p:sp>
        <p:nvSpPr>
          <p:cNvPr id="6" name="Text 3"/>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6EE"/>
        </a:solidFill>
      </p:bgPr>
    </p:bg>
    <p:spTree>
      <p:nvGrpSpPr>
        <p:cNvPr id="1" name=""/>
        <p:cNvGrpSpPr/>
        <p:nvPr/>
      </p:nvGrpSpPr>
      <p:grpSpPr>
        <a:xfrm>
          <a:off x="0" y="0"/>
          <a:ext cx="0" cy="0"/>
          <a:chOff x="0" y="0"/>
          <a:chExt cx="0" cy="0"/>
        </a:xfrm>
      </p:grpSpPr>
      <p:sp>
        <p:nvSpPr>
          <p:cNvPr id="2" name="Shape 0"/>
          <p:cNvSpPr/>
          <p:nvPr/>
        </p:nvSpPr>
        <p:spPr>
          <a:xfrm>
            <a:off x="10640350" y="6553036"/>
            <a:ext cx="1475147" cy="228594"/>
          </a:xfrm>
          <a:prstGeom prst="rect">
            <a:avLst/>
          </a:prstGeom>
          <a:solidFill>
            <a:srgbClr val="000000">
              <a:alpha val="60000"/>
            </a:srgbClr>
          </a:solidFill>
          <a:ln/>
        </p:spPr>
      </p:sp>
      <p:sp>
        <p:nvSpPr>
          <p:cNvPr id="3" name="Text 1"/>
          <p:cNvSpPr/>
          <p:nvPr/>
        </p:nvSpPr>
        <p:spPr>
          <a:xfrm>
            <a:off x="609585" y="2242090"/>
            <a:ext cx="3536861" cy="253993"/>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AI-Driven Conversion Rates
</a:t>
            </a:r>
            <a:endParaRPr lang="en-US" sz="1400" dirty="0"/>
          </a:p>
        </p:txBody>
      </p:sp>
      <p:sp>
        <p:nvSpPr>
          <p:cNvPr id="4" name="Text 2"/>
          <p:cNvSpPr/>
          <p:nvPr/>
        </p:nvSpPr>
        <p:spPr>
          <a:xfrm>
            <a:off x="609585" y="2546883"/>
            <a:ext cx="3536861" cy="1288819"/>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NOVA AI leverages advanced algorithms to enhance e-commerce conversion rates by analyzing visitor behavior in real-time, leading to more effective engagement strategies.
</a:t>
            </a:r>
            <a:endParaRPr lang="en-US" sz="1300" dirty="0"/>
          </a:p>
        </p:txBody>
      </p:sp>
      <p:sp>
        <p:nvSpPr>
          <p:cNvPr id="5" name="Text 3"/>
          <p:cNvSpPr/>
          <p:nvPr/>
        </p:nvSpPr>
        <p:spPr>
          <a:xfrm>
            <a:off x="4781430" y="2242090"/>
            <a:ext cx="3536861" cy="253993"/>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Real-Time Visitor Response
</a:t>
            </a:r>
            <a:endParaRPr lang="en-US" sz="1400" dirty="0"/>
          </a:p>
        </p:txBody>
      </p:sp>
      <p:sp>
        <p:nvSpPr>
          <p:cNvPr id="6" name="Text 4"/>
          <p:cNvSpPr/>
          <p:nvPr/>
        </p:nvSpPr>
        <p:spPr>
          <a:xfrm>
            <a:off x="4781430" y="2546883"/>
            <a:ext cx="3536861" cy="1288819"/>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The system intelligently responds to visitor actions, determining the best course of action—whether on-site assistance, email recovery, or no intervention—based on contextual data.
</a:t>
            </a:r>
            <a:endParaRPr lang="en-US" sz="1300" dirty="0"/>
          </a:p>
        </p:txBody>
      </p:sp>
      <p:sp>
        <p:nvSpPr>
          <p:cNvPr id="7" name="Text 5"/>
          <p:cNvSpPr/>
          <p:nvPr/>
        </p:nvSpPr>
        <p:spPr>
          <a:xfrm>
            <a:off x="609585" y="4673881"/>
            <a:ext cx="7708707" cy="253993"/>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Contextual Decision Making
</a:t>
            </a:r>
            <a:endParaRPr lang="en-US" sz="1400" dirty="0"/>
          </a:p>
        </p:txBody>
      </p:sp>
      <p:sp>
        <p:nvSpPr>
          <p:cNvPr id="8" name="Text 6"/>
          <p:cNvSpPr/>
          <p:nvPr/>
        </p:nvSpPr>
        <p:spPr>
          <a:xfrm>
            <a:off x="609585" y="4978673"/>
            <a:ext cx="7708707" cy="515525"/>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NOVA AI ensures that interventions are tailored to individual visitor contexts, optimizing the customer experience and minimizing unnecessary communications.
</a:t>
            </a:r>
            <a:endParaRPr lang="en-US" sz="1300" dirty="0"/>
          </a:p>
        </p:txBody>
      </p:sp>
      <p:sp>
        <p:nvSpPr>
          <p:cNvPr id="9" name="Text 7"/>
          <p:cNvSpPr/>
          <p:nvPr/>
        </p:nvSpPr>
        <p:spPr>
          <a:xfrm>
            <a:off x="10716548" y="6578435"/>
            <a:ext cx="1322751" cy="177795"/>
          </a:xfrm>
          <a:prstGeom prst="rect">
            <a:avLst/>
          </a:prstGeom>
          <a:noFill/>
          <a:ln/>
        </p:spPr>
        <p:txBody>
          <a:bodyPr wrap="square" lIns="1016" tIns="1016" rIns="1016" bIns="1016" rtlCol="0" anchor="t"/>
          <a:lstStyle/>
          <a:p>
            <a:pPr indent="0" marL="0">
              <a:lnSpc>
                <a:spcPct val="140000"/>
              </a:lnSpc>
              <a:buNone/>
            </a:pPr>
            <a:r>
              <a:rPr lang="en-US" sz="900" dirty="0">
                <a:solidFill>
                  <a:srgbClr val="FFFFFF"/>
                </a:solidFill>
                <a:latin typeface="Segoe UI" pitchFamily="34" charset="0"/>
                <a:ea typeface="Segoe UI" pitchFamily="34" charset="-122"/>
                <a:cs typeface="Segoe UI" pitchFamily="34" charset="-120"/>
              </a:rPr>
              <a:t>Photo by Igor Omilaev
</a:t>
            </a:r>
            <a:endParaRPr lang="en-US" sz="900" dirty="0"/>
          </a:p>
        </p:txBody>
      </p:sp>
      <p:sp>
        <p:nvSpPr>
          <p:cNvPr id="10" name="Text 8"/>
          <p:cNvSpPr/>
          <p:nvPr/>
        </p:nvSpPr>
        <p:spPr>
          <a:xfrm>
            <a:off x="380990" y="1185634"/>
            <a:ext cx="8140496" cy="396072"/>
          </a:xfrm>
          <a:prstGeom prst="rect">
            <a:avLst/>
          </a:prstGeom>
          <a:noFill/>
          <a:ln/>
        </p:spPr>
        <p:txBody>
          <a:bodyPr wrap="square" lIns="1016" tIns="1016" rIns="1016" bIns="1016" rtlCol="0" anchor="t"/>
          <a:lstStyle/>
          <a:p>
            <a:pPr indent="0" marL="0">
              <a:lnSpc>
                <a:spcPct val="120000"/>
              </a:lnSpc>
              <a:buNone/>
            </a:pPr>
            <a:r>
              <a:rPr lang="en-US" sz="2300" b="1" dirty="0">
                <a:solidFill>
                  <a:srgbClr val="0F172A"/>
                </a:solidFill>
                <a:latin typeface="Segoe UI" pitchFamily="34" charset="0"/>
                <a:ea typeface="Segoe UI" pitchFamily="34" charset="-122"/>
                <a:cs typeface="Segoe UI" pitchFamily="34" charset="-120"/>
              </a:rPr>
              <a:t>Overview of NOVA AI
</a:t>
            </a:r>
            <a:endParaRPr lang="en-US" sz="2300" dirty="0"/>
          </a:p>
        </p:txBody>
      </p:sp>
      <p:pic>
        <p:nvPicPr>
          <p:cNvPr id="1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96885" y="1924597"/>
            <a:ext cx="228594" cy="228594"/>
          </a:xfrm>
          <a:prstGeom prst="rect">
            <a:avLst/>
          </a:prstGeom>
        </p:spPr>
      </p:pic>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68731" y="1924597"/>
            <a:ext cx="228594" cy="228594"/>
          </a:xfrm>
          <a:prstGeom prst="rect">
            <a:avLst/>
          </a:prstGeom>
        </p:spPr>
      </p:pic>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6885" y="4356388"/>
            <a:ext cx="228594" cy="228594"/>
          </a:xfrm>
          <a:prstGeom prst="rect">
            <a:avLst/>
          </a:prstGeom>
        </p:spPr>
      </p:pic>
      <p:pic>
        <p:nvPicPr>
          <p:cNvPr id="14" name="Image 3" descr="preencoded.png">    </p:cNvPr>
          <p:cNvPicPr>
            <a:picLocks noChangeAspect="1"/>
          </p:cNvPicPr>
          <p:nvPr/>
        </p:nvPicPr>
        <p:blipFill>
          <a:blip r:embed="rId7"/>
          <a:srcRect l="0" r="0" t="0" b="0"/>
          <a:stretch/>
        </p:blipFill>
        <p:spPr>
          <a:xfrm>
            <a:off x="8775480" y="0"/>
            <a:ext cx="3370495" cy="6812280"/>
          </a:xfrm>
          <a:prstGeom prst="rect">
            <a:avLst/>
          </a:prstGeom>
        </p:spPr>
      </p:pic>
      <p:sp>
        <p:nvSpPr>
          <p:cNvPr id="15" name="Text 9"/>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6EE"/>
        </a:solidFill>
      </p:bgPr>
    </p:bg>
    <p:spTree>
      <p:nvGrpSpPr>
        <p:cNvPr id="1" name=""/>
        <p:cNvGrpSpPr/>
        <p:nvPr/>
      </p:nvGrpSpPr>
      <p:grpSpPr>
        <a:xfrm>
          <a:off x="0" y="0"/>
          <a:ext cx="0" cy="0"/>
          <a:chOff x="0" y="0"/>
          <a:chExt cx="0" cy="0"/>
        </a:xfrm>
      </p:grpSpPr>
      <p:sp>
        <p:nvSpPr>
          <p:cNvPr id="2" name="Text 0"/>
          <p:cNvSpPr/>
          <p:nvPr/>
        </p:nvSpPr>
        <p:spPr>
          <a:xfrm>
            <a:off x="1015975" y="507987"/>
            <a:ext cx="10159746" cy="761981"/>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7C3AED"/>
                </a:solidFill>
                <a:latin typeface="Segoe UI" pitchFamily="34" charset="0"/>
                <a:ea typeface="Segoe UI" pitchFamily="34" charset="-122"/>
                <a:cs typeface="Segoe UI" pitchFamily="34" charset="-120"/>
              </a:rPr>
              <a:t>The Challenge of Visitor Conversion
</a:t>
            </a:r>
            <a:endParaRPr lang="en-US" sz="2900" dirty="0"/>
          </a:p>
        </p:txBody>
      </p:sp>
      <p:sp>
        <p:nvSpPr>
          <p:cNvPr id="3" name="Text 1"/>
          <p:cNvSpPr/>
          <p:nvPr/>
        </p:nvSpPr>
        <p:spPr>
          <a:xfrm>
            <a:off x="774681" y="2922316"/>
            <a:ext cx="3259453" cy="253993"/>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Valuable Visitors Leave
</a:t>
            </a:r>
            <a:endParaRPr lang="en-US" sz="1400" dirty="0"/>
          </a:p>
        </p:txBody>
      </p:sp>
      <p:sp>
        <p:nvSpPr>
          <p:cNvPr id="4" name="Text 2"/>
          <p:cNvSpPr/>
          <p:nvPr/>
        </p:nvSpPr>
        <p:spPr>
          <a:xfrm>
            <a:off x="774681" y="3227108"/>
            <a:ext cx="3259453" cy="1546583"/>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E-commerce sites lose approximately 70% of valuable visitors who abandon their carts, resulting in significant revenue loss. This highlights the need for targeted interventions to improve conversion rates.
</a:t>
            </a:r>
            <a:endParaRPr lang="en-US" sz="1300" dirty="0"/>
          </a:p>
        </p:txBody>
      </p:sp>
      <p:sp>
        <p:nvSpPr>
          <p:cNvPr id="5" name="Text 3"/>
          <p:cNvSpPr/>
          <p:nvPr/>
        </p:nvSpPr>
        <p:spPr>
          <a:xfrm>
            <a:off x="4465923" y="2922316"/>
            <a:ext cx="3259651" cy="253993"/>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Data Overload
</a:t>
            </a:r>
            <a:endParaRPr lang="en-US" sz="1400" dirty="0"/>
          </a:p>
        </p:txBody>
      </p:sp>
      <p:sp>
        <p:nvSpPr>
          <p:cNvPr id="6" name="Text 4"/>
          <p:cNvSpPr/>
          <p:nvPr/>
        </p:nvSpPr>
        <p:spPr>
          <a:xfrm>
            <a:off x="4465923" y="3227108"/>
            <a:ext cx="3259651" cy="1546583"/>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E-commerce platforms generate vast amounts of behavioral data, including product views and cart activity. However, most businesses struggle to leverage this data effectively for personalized engagement.
</a:t>
            </a:r>
            <a:endParaRPr lang="en-US" sz="1300" dirty="0"/>
          </a:p>
        </p:txBody>
      </p:sp>
      <p:sp>
        <p:nvSpPr>
          <p:cNvPr id="7" name="Text 5"/>
          <p:cNvSpPr/>
          <p:nvPr/>
        </p:nvSpPr>
        <p:spPr>
          <a:xfrm>
            <a:off x="8157363" y="2922316"/>
            <a:ext cx="3259650" cy="253993"/>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Generic Responses Fail
</a:t>
            </a:r>
            <a:endParaRPr lang="en-US" sz="1400" dirty="0"/>
          </a:p>
        </p:txBody>
      </p:sp>
      <p:sp>
        <p:nvSpPr>
          <p:cNvPr id="8" name="Text 6"/>
          <p:cNvSpPr/>
          <p:nvPr/>
        </p:nvSpPr>
        <p:spPr>
          <a:xfrm>
            <a:off x="8157363" y="3227108"/>
            <a:ext cx="3259650" cy="1546583"/>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Current strategies often employ a one-size-fits-all approach, leading to poorly targeted interventions. This generic response fails to engage visitors meaningfully, resulting in missed conversion opportunities.
</a:t>
            </a:r>
            <a:endParaRPr lang="en-US" sz="1300" dirty="0"/>
          </a:p>
        </p:txBody>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61981" y="2503227"/>
            <a:ext cx="279393" cy="279393"/>
          </a:xfrm>
          <a:prstGeom prst="rect">
            <a:avLst/>
          </a:prstGeom>
        </p:spPr>
      </p:pic>
      <p:sp>
        <p:nvSpPr>
          <p:cNvPr id="10" name="Shape 7"/>
          <p:cNvSpPr/>
          <p:nvPr/>
        </p:nvSpPr>
        <p:spPr>
          <a:xfrm>
            <a:off x="761981" y="4913387"/>
            <a:ext cx="3284852" cy="76198"/>
          </a:xfrm>
          <a:prstGeom prst="ellipse">
            <a:avLst/>
          </a:prstGeom>
          <a:solidFill>
            <a:srgbClr val="7C3AED"/>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53223" y="2503227"/>
            <a:ext cx="279393" cy="279393"/>
          </a:xfrm>
          <a:prstGeom prst="rect">
            <a:avLst/>
          </a:prstGeom>
        </p:spPr>
      </p:pic>
      <p:sp>
        <p:nvSpPr>
          <p:cNvPr id="12" name="Shape 8"/>
          <p:cNvSpPr/>
          <p:nvPr/>
        </p:nvSpPr>
        <p:spPr>
          <a:xfrm>
            <a:off x="4453223" y="4913387"/>
            <a:ext cx="3285051" cy="76198"/>
          </a:xfrm>
          <a:prstGeom prst="ellipse">
            <a:avLst/>
          </a:prstGeom>
          <a:solidFill>
            <a:srgbClr val="8B5CF6"/>
          </a:solidFill>
          <a:ln/>
        </p:spPr>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44663" y="2503227"/>
            <a:ext cx="279393" cy="279393"/>
          </a:xfrm>
          <a:prstGeom prst="rect">
            <a:avLst/>
          </a:prstGeom>
        </p:spPr>
      </p:pic>
      <p:sp>
        <p:nvSpPr>
          <p:cNvPr id="14" name="Shape 9"/>
          <p:cNvSpPr/>
          <p:nvPr/>
        </p:nvSpPr>
        <p:spPr>
          <a:xfrm>
            <a:off x="8144663" y="4913387"/>
            <a:ext cx="3285051" cy="76198"/>
          </a:xfrm>
          <a:prstGeom prst="ellipse">
            <a:avLst/>
          </a:prstGeom>
          <a:solidFill>
            <a:srgbClr val="7C3AED"/>
          </a:solidFill>
          <a:ln/>
        </p:spPr>
      </p:sp>
      <p:sp>
        <p:nvSpPr>
          <p:cNvPr id="15" name="Text 10"/>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6EE"/>
        </a:solidFill>
      </p:bgPr>
    </p:bg>
    <p:spTree>
      <p:nvGrpSpPr>
        <p:cNvPr id="1" name=""/>
        <p:cNvGrpSpPr/>
        <p:nvPr/>
      </p:nvGrpSpPr>
      <p:grpSpPr>
        <a:xfrm>
          <a:off x="0" y="0"/>
          <a:ext cx="0" cy="0"/>
          <a:chOff x="0" y="0"/>
          <a:chExt cx="0" cy="0"/>
        </a:xfrm>
      </p:grpSpPr>
      <p:sp>
        <p:nvSpPr>
          <p:cNvPr id="2" name="Text 0"/>
          <p:cNvSpPr/>
          <p:nvPr/>
        </p:nvSpPr>
        <p:spPr>
          <a:xfrm>
            <a:off x="1015975" y="507987"/>
            <a:ext cx="10159746" cy="761981"/>
          </a:xfrm>
          <a:prstGeom prst="rect">
            <a:avLst/>
          </a:prstGeom>
          <a:noFill/>
          <a:ln/>
        </p:spPr>
        <p:txBody>
          <a:bodyPr wrap="square" lIns="1016" tIns="1016" rIns="1016" bIns="1016" rtlCol="0" anchor="t"/>
          <a:lstStyle/>
          <a:p>
            <a:pPr algn="l" indent="0" marL="0">
              <a:lnSpc>
                <a:spcPct val="130000"/>
              </a:lnSpc>
              <a:buNone/>
            </a:pPr>
            <a:r>
              <a:rPr lang="en-US" sz="2900" dirty="0">
                <a:solidFill>
                  <a:srgbClr val="7C3AED"/>
                </a:solidFill>
                <a:latin typeface="Segoe UI" pitchFamily="34" charset="0"/>
                <a:ea typeface="Segoe UI" pitchFamily="34" charset="-122"/>
                <a:cs typeface="Segoe UI" pitchFamily="34" charset="-120"/>
              </a:rPr>
              <a:t>Understanding Visitor Behaviour
</a:t>
            </a:r>
            <a:endParaRPr lang="en-US" sz="2900" dirty="0"/>
          </a:p>
        </p:txBody>
      </p:sp>
      <p:sp>
        <p:nvSpPr>
          <p:cNvPr id="3" name="Text 1"/>
          <p:cNvSpPr/>
          <p:nvPr/>
        </p:nvSpPr>
        <p:spPr>
          <a:xfrm>
            <a:off x="761981" y="2501839"/>
            <a:ext cx="5079873" cy="317490"/>
          </a:xfrm>
          <a:prstGeom prst="rect">
            <a:avLst/>
          </a:prstGeom>
          <a:noFill/>
          <a:ln/>
        </p:spPr>
        <p:txBody>
          <a:bodyPr wrap="square" lIns="1016" tIns="1016" rIns="1016" bIns="1016" rtlCol="0" anchor="t"/>
          <a:lstStyle/>
          <a:p>
            <a:pPr algn="l" indent="0" marL="0">
              <a:lnSpc>
                <a:spcPct val="125000"/>
              </a:lnSpc>
              <a:buNone/>
            </a:pPr>
            <a:r>
              <a:rPr lang="en-US" sz="1800" b="1" dirty="0">
                <a:solidFill>
                  <a:srgbClr val="7C3AED"/>
                </a:solidFill>
                <a:latin typeface="Segoe UI" pitchFamily="34" charset="0"/>
                <a:ea typeface="Segoe UI" pitchFamily="34" charset="-122"/>
                <a:cs typeface="Segoe UI" pitchFamily="34" charset="-120"/>
              </a:rPr>
              <a:t>Key Engagement Metrics
</a:t>
            </a:r>
            <a:endParaRPr lang="en-US" sz="1800" dirty="0"/>
          </a:p>
        </p:txBody>
      </p:sp>
      <p:sp>
        <p:nvSpPr>
          <p:cNvPr id="4" name="Text 2"/>
          <p:cNvSpPr/>
          <p:nvPr/>
        </p:nvSpPr>
        <p:spPr>
          <a:xfrm>
            <a:off x="1003275" y="2971726"/>
            <a:ext cx="3389228" cy="285743"/>
          </a:xfrm>
          <a:prstGeom prst="rect">
            <a:avLst/>
          </a:prstGeom>
          <a:noFill/>
          <a:ln/>
        </p:spPr>
        <p:txBody>
          <a:bodyPr wrap="square" lIns="1016" tIns="1016" rIns="1016" bIns="1016" rtlCol="0" anchor="t"/>
          <a:lstStyle/>
          <a:p>
            <a:pPr algn="l" indent="0" marL="0">
              <a:lnSpc>
                <a:spcPct val="150000"/>
              </a:lnSpc>
              <a:buNone/>
            </a:pPr>
            <a:r>
              <a:rPr lang="en-US" sz="1400" dirty="0">
                <a:solidFill>
                  <a:srgbClr val="0F172A"/>
                </a:solidFill>
                <a:latin typeface="Segoe UI" pitchFamily="34" charset="0"/>
                <a:ea typeface="Segoe UI" pitchFamily="34" charset="-122"/>
                <a:cs typeface="Segoe UI" pitchFamily="34" charset="-120"/>
              </a:rPr>
              <a:t>Product views indicate interest levels.
</a:t>
            </a:r>
            <a:endParaRPr lang="en-US" sz="1400" dirty="0"/>
          </a:p>
        </p:txBody>
      </p:sp>
      <p:sp>
        <p:nvSpPr>
          <p:cNvPr id="5" name="Text 3"/>
          <p:cNvSpPr/>
          <p:nvPr/>
        </p:nvSpPr>
        <p:spPr>
          <a:xfrm>
            <a:off x="1003275" y="3409865"/>
            <a:ext cx="4431792" cy="285743"/>
          </a:xfrm>
          <a:prstGeom prst="rect">
            <a:avLst/>
          </a:prstGeom>
          <a:noFill/>
          <a:ln/>
        </p:spPr>
        <p:txBody>
          <a:bodyPr wrap="square" lIns="1016" tIns="1016" rIns="1016" bIns="1016" rtlCol="0" anchor="t"/>
          <a:lstStyle/>
          <a:p>
            <a:pPr algn="l" indent="0" marL="0">
              <a:lnSpc>
                <a:spcPct val="150000"/>
              </a:lnSpc>
              <a:buNone/>
            </a:pPr>
            <a:r>
              <a:rPr lang="en-US" sz="1400" dirty="0">
                <a:solidFill>
                  <a:srgbClr val="0F172A"/>
                </a:solidFill>
                <a:latin typeface="Segoe UI" pitchFamily="34" charset="0"/>
                <a:ea typeface="Segoe UI" pitchFamily="34" charset="-122"/>
                <a:cs typeface="Segoe UI" pitchFamily="34" charset="-120"/>
              </a:rPr>
              <a:t>Time spent on pages reflects engagement depth.
</a:t>
            </a:r>
            <a:endParaRPr lang="en-US" sz="1400" dirty="0"/>
          </a:p>
        </p:txBody>
      </p:sp>
      <p:sp>
        <p:nvSpPr>
          <p:cNvPr id="6" name="Text 4"/>
          <p:cNvSpPr/>
          <p:nvPr/>
        </p:nvSpPr>
        <p:spPr>
          <a:xfrm>
            <a:off x="1003275" y="3848004"/>
            <a:ext cx="4838579" cy="571486"/>
          </a:xfrm>
          <a:prstGeom prst="rect">
            <a:avLst/>
          </a:prstGeom>
          <a:noFill/>
          <a:ln/>
        </p:spPr>
        <p:txBody>
          <a:bodyPr wrap="square" lIns="1016" tIns="1016" rIns="1016" bIns="1016" rtlCol="0" anchor="t"/>
          <a:lstStyle/>
          <a:p>
            <a:pPr algn="l" indent="0" marL="0">
              <a:lnSpc>
                <a:spcPct val="150000"/>
              </a:lnSpc>
              <a:buNone/>
            </a:pPr>
            <a:r>
              <a:rPr lang="en-US" sz="1400" dirty="0">
                <a:solidFill>
                  <a:srgbClr val="0F172A"/>
                </a:solidFill>
                <a:latin typeface="Segoe UI" pitchFamily="34" charset="0"/>
                <a:ea typeface="Segoe UI" pitchFamily="34" charset="-122"/>
                <a:cs typeface="Segoe UI" pitchFamily="34" charset="-120"/>
              </a:rPr>
              <a:t>High cart abandonment rates signal intervention needs.
</a:t>
            </a:r>
            <a:endParaRPr lang="en-US" sz="1400" dirty="0"/>
          </a:p>
        </p:txBody>
      </p:sp>
      <p:sp>
        <p:nvSpPr>
          <p:cNvPr id="7" name="Text 5"/>
          <p:cNvSpPr/>
          <p:nvPr/>
        </p:nvSpPr>
        <p:spPr>
          <a:xfrm>
            <a:off x="6349841" y="2501839"/>
            <a:ext cx="5079873" cy="317490"/>
          </a:xfrm>
          <a:prstGeom prst="rect">
            <a:avLst/>
          </a:prstGeom>
          <a:noFill/>
          <a:ln/>
        </p:spPr>
        <p:txBody>
          <a:bodyPr wrap="square" lIns="1016" tIns="1016" rIns="1016" bIns="1016" rtlCol="0" anchor="t"/>
          <a:lstStyle/>
          <a:p>
            <a:pPr algn="l" indent="0" marL="0">
              <a:lnSpc>
                <a:spcPct val="125000"/>
              </a:lnSpc>
              <a:buNone/>
            </a:pPr>
            <a:r>
              <a:rPr lang="en-US" sz="1800" b="1" dirty="0">
                <a:solidFill>
                  <a:srgbClr val="8B5CF6"/>
                </a:solidFill>
                <a:latin typeface="Segoe UI" pitchFamily="34" charset="0"/>
                <a:ea typeface="Segoe UI" pitchFamily="34" charset="-122"/>
                <a:cs typeface="Segoe UI" pitchFamily="34" charset="-120"/>
              </a:rPr>
              <a:t>Targeted Interventions
</a:t>
            </a:r>
            <a:endParaRPr lang="en-US" sz="1800" dirty="0"/>
          </a:p>
        </p:txBody>
      </p:sp>
      <p:sp>
        <p:nvSpPr>
          <p:cNvPr id="8" name="Text 6"/>
          <p:cNvSpPr/>
          <p:nvPr/>
        </p:nvSpPr>
        <p:spPr>
          <a:xfrm>
            <a:off x="6591135" y="2971726"/>
            <a:ext cx="4838579" cy="571486"/>
          </a:xfrm>
          <a:prstGeom prst="rect">
            <a:avLst/>
          </a:prstGeom>
          <a:noFill/>
          <a:ln/>
        </p:spPr>
        <p:txBody>
          <a:bodyPr wrap="square" lIns="1016" tIns="1016" rIns="1016" bIns="1016" rtlCol="0" anchor="t"/>
          <a:lstStyle/>
          <a:p>
            <a:pPr algn="l" indent="0" marL="0">
              <a:lnSpc>
                <a:spcPct val="150000"/>
              </a:lnSpc>
              <a:buNone/>
            </a:pPr>
            <a:r>
              <a:rPr lang="en-US" sz="1400" dirty="0">
                <a:solidFill>
                  <a:srgbClr val="0F172A"/>
                </a:solidFill>
                <a:latin typeface="Segoe UI" pitchFamily="34" charset="0"/>
                <a:ea typeface="Segoe UI" pitchFamily="34" charset="-122"/>
                <a:cs typeface="Segoe UI" pitchFamily="34" charset="-120"/>
              </a:rPr>
              <a:t>Differentiate treatment for anonymous vs. identified users.
</a:t>
            </a:r>
            <a:endParaRPr lang="en-US" sz="1400" dirty="0"/>
          </a:p>
        </p:txBody>
      </p:sp>
      <p:sp>
        <p:nvSpPr>
          <p:cNvPr id="9" name="Text 7"/>
          <p:cNvSpPr/>
          <p:nvPr/>
        </p:nvSpPr>
        <p:spPr>
          <a:xfrm>
            <a:off x="6591135" y="3695608"/>
            <a:ext cx="4838579" cy="571486"/>
          </a:xfrm>
          <a:prstGeom prst="rect">
            <a:avLst/>
          </a:prstGeom>
          <a:noFill/>
          <a:ln/>
        </p:spPr>
        <p:txBody>
          <a:bodyPr wrap="square" lIns="1016" tIns="1016" rIns="1016" bIns="1016" rtlCol="0" anchor="t"/>
          <a:lstStyle/>
          <a:p>
            <a:pPr algn="l" indent="0" marL="0">
              <a:lnSpc>
                <a:spcPct val="150000"/>
              </a:lnSpc>
              <a:buNone/>
            </a:pPr>
            <a:r>
              <a:rPr lang="en-US" sz="1400" dirty="0">
                <a:solidFill>
                  <a:srgbClr val="0F172A"/>
                </a:solidFill>
                <a:latin typeface="Segoe UI" pitchFamily="34" charset="0"/>
                <a:ea typeface="Segoe UI" pitchFamily="34" charset="-122"/>
                <a:cs typeface="Segoe UI" pitchFamily="34" charset="-120"/>
              </a:rPr>
              <a:t>Utilize engagement metrics to tailor recovery strategies.
</a:t>
            </a:r>
            <a:endParaRPr lang="en-US" sz="1400" dirty="0"/>
          </a:p>
        </p:txBody>
      </p:sp>
      <p:sp>
        <p:nvSpPr>
          <p:cNvPr id="10" name="Text 8"/>
          <p:cNvSpPr/>
          <p:nvPr/>
        </p:nvSpPr>
        <p:spPr>
          <a:xfrm>
            <a:off x="6591135" y="4419490"/>
            <a:ext cx="4838579" cy="571486"/>
          </a:xfrm>
          <a:prstGeom prst="rect">
            <a:avLst/>
          </a:prstGeom>
          <a:noFill/>
          <a:ln/>
        </p:spPr>
        <p:txBody>
          <a:bodyPr wrap="square" lIns="1016" tIns="1016" rIns="1016" bIns="1016" rtlCol="0" anchor="t"/>
          <a:lstStyle/>
          <a:p>
            <a:pPr algn="l" indent="0" marL="0">
              <a:lnSpc>
                <a:spcPct val="150000"/>
              </a:lnSpc>
              <a:buNone/>
            </a:pPr>
            <a:r>
              <a:rPr lang="en-US" sz="1400" dirty="0">
                <a:solidFill>
                  <a:srgbClr val="0F172A"/>
                </a:solidFill>
                <a:latin typeface="Segoe UI" pitchFamily="34" charset="0"/>
                <a:ea typeface="Segoe UI" pitchFamily="34" charset="-122"/>
                <a:cs typeface="Segoe UI" pitchFamily="34" charset="-120"/>
              </a:rPr>
              <a:t>Implement timely interventions to reduce abandonment.
</a:t>
            </a:r>
            <a:endParaRPr lang="en-US" sz="1400" dirty="0"/>
          </a:p>
        </p:txBody>
      </p:sp>
      <p:sp>
        <p:nvSpPr>
          <p:cNvPr id="11" name="Shape 9"/>
          <p:cNvSpPr/>
          <p:nvPr/>
        </p:nvSpPr>
        <p:spPr>
          <a:xfrm>
            <a:off x="761981" y="3073325"/>
            <a:ext cx="88898" cy="88896"/>
          </a:xfrm>
          <a:prstGeom prst="ellipse">
            <a:avLst/>
          </a:prstGeom>
          <a:solidFill>
            <a:srgbClr val="7C3AED"/>
          </a:solidFill>
          <a:ln/>
        </p:spPr>
      </p:sp>
      <p:sp>
        <p:nvSpPr>
          <p:cNvPr id="12" name="Shape 10"/>
          <p:cNvSpPr/>
          <p:nvPr/>
        </p:nvSpPr>
        <p:spPr>
          <a:xfrm>
            <a:off x="761981" y="3511464"/>
            <a:ext cx="88898" cy="88896"/>
          </a:xfrm>
          <a:prstGeom prst="ellipse">
            <a:avLst/>
          </a:prstGeom>
          <a:solidFill>
            <a:srgbClr val="7C3AED"/>
          </a:solidFill>
          <a:ln/>
        </p:spPr>
      </p:sp>
      <p:sp>
        <p:nvSpPr>
          <p:cNvPr id="13" name="Shape 11"/>
          <p:cNvSpPr/>
          <p:nvPr/>
        </p:nvSpPr>
        <p:spPr>
          <a:xfrm>
            <a:off x="761981" y="3949603"/>
            <a:ext cx="88898" cy="88896"/>
          </a:xfrm>
          <a:prstGeom prst="ellipse">
            <a:avLst/>
          </a:prstGeom>
          <a:solidFill>
            <a:srgbClr val="7C3AED"/>
          </a:solidFill>
          <a:ln/>
        </p:spPr>
      </p:sp>
      <p:sp>
        <p:nvSpPr>
          <p:cNvPr id="14" name="Shape 12"/>
          <p:cNvSpPr/>
          <p:nvPr/>
        </p:nvSpPr>
        <p:spPr>
          <a:xfrm>
            <a:off x="6349841" y="3073325"/>
            <a:ext cx="88898" cy="88896"/>
          </a:xfrm>
          <a:prstGeom prst="ellipse">
            <a:avLst/>
          </a:prstGeom>
          <a:solidFill>
            <a:srgbClr val="8B5CF6"/>
          </a:solidFill>
          <a:ln/>
        </p:spPr>
      </p:sp>
      <p:sp>
        <p:nvSpPr>
          <p:cNvPr id="15" name="Shape 13"/>
          <p:cNvSpPr/>
          <p:nvPr/>
        </p:nvSpPr>
        <p:spPr>
          <a:xfrm>
            <a:off x="6349841" y="3797207"/>
            <a:ext cx="88898" cy="88896"/>
          </a:xfrm>
          <a:prstGeom prst="ellipse">
            <a:avLst/>
          </a:prstGeom>
          <a:solidFill>
            <a:srgbClr val="8B5CF6"/>
          </a:solidFill>
          <a:ln/>
        </p:spPr>
      </p:sp>
      <p:sp>
        <p:nvSpPr>
          <p:cNvPr id="16" name="Shape 14"/>
          <p:cNvSpPr/>
          <p:nvPr/>
        </p:nvSpPr>
        <p:spPr>
          <a:xfrm>
            <a:off x="6349841" y="4521089"/>
            <a:ext cx="88898" cy="88896"/>
          </a:xfrm>
          <a:prstGeom prst="ellipse">
            <a:avLst/>
          </a:prstGeom>
          <a:solidFill>
            <a:srgbClr val="8B5CF6"/>
          </a:solidFill>
          <a:ln/>
        </p:spPr>
      </p:sp>
      <p:sp>
        <p:nvSpPr>
          <p:cNvPr id="17" name="Text 15"/>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6EE"/>
        </a:solidFill>
      </p:bgPr>
    </p:bg>
    <p:spTree>
      <p:nvGrpSpPr>
        <p:cNvPr id="1" name=""/>
        <p:cNvGrpSpPr/>
        <p:nvPr/>
      </p:nvGrpSpPr>
      <p:grpSpPr>
        <a:xfrm>
          <a:off x="0" y="0"/>
          <a:ext cx="0" cy="0"/>
          <a:chOff x="0" y="0"/>
          <a:chExt cx="0" cy="0"/>
        </a:xfrm>
      </p:grpSpPr>
      <p:sp>
        <p:nvSpPr>
          <p:cNvPr id="2" name="Text 0"/>
          <p:cNvSpPr/>
          <p:nvPr/>
        </p:nvSpPr>
        <p:spPr>
          <a:xfrm>
            <a:off x="1015975" y="761981"/>
            <a:ext cx="10159746" cy="660383"/>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7C3AED"/>
                </a:solidFill>
                <a:latin typeface="Calibri" pitchFamily="34" charset="0"/>
                <a:ea typeface="Calibri" pitchFamily="34" charset="-122"/>
                <a:cs typeface="Calibri" pitchFamily="34" charset="-120"/>
              </a:rPr>
              <a:t>NOVA AI Workflow
</a:t>
            </a:r>
            <a:endParaRPr lang="en-US" sz="2900" dirty="0"/>
          </a:p>
        </p:txBody>
      </p:sp>
      <p:pic>
        <p:nvPicPr>
          <p:cNvPr id="3" name="Image 0" descr="preencoded.png">    </p:cNvPr>
          <p:cNvPicPr>
            <a:picLocks noChangeAspect="1"/>
          </p:cNvPicPr>
          <p:nvPr/>
        </p:nvPicPr>
        <p:blipFill>
          <a:blip r:embed="rId1"/>
          <a:srcRect l="0" r="0" t="0" b="0"/>
          <a:stretch/>
        </p:blipFill>
        <p:spPr>
          <a:xfrm>
            <a:off x="1523962" y="1874473"/>
            <a:ext cx="9143771" cy="3794665"/>
          </a:xfrm>
          <a:prstGeom prst="rect">
            <a:avLst/>
          </a:prstGeom>
        </p:spPr>
      </p:pic>
      <p:sp>
        <p:nvSpPr>
          <p:cNvPr id="4" name="Text 1"/>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6EE"/>
        </a:solidFill>
      </p:bgPr>
    </p:bg>
    <p:spTree>
      <p:nvGrpSpPr>
        <p:cNvPr id="1" name=""/>
        <p:cNvGrpSpPr/>
        <p:nvPr/>
      </p:nvGrpSpPr>
      <p:grpSpPr>
        <a:xfrm>
          <a:off x="0" y="0"/>
          <a:ext cx="0" cy="0"/>
          <a:chOff x="0" y="0"/>
          <a:chExt cx="0" cy="0"/>
        </a:xfrm>
      </p:grpSpPr>
      <p:sp>
        <p:nvSpPr>
          <p:cNvPr id="2" name="Shape 0"/>
          <p:cNvSpPr/>
          <p:nvPr/>
        </p:nvSpPr>
        <p:spPr>
          <a:xfrm>
            <a:off x="7289617" y="6553036"/>
            <a:ext cx="1250919" cy="228594"/>
          </a:xfrm>
          <a:prstGeom prst="rect">
            <a:avLst/>
          </a:prstGeom>
          <a:solidFill>
            <a:srgbClr val="000000">
              <a:alpha val="60000"/>
            </a:srgbClr>
          </a:solidFill>
          <a:ln/>
        </p:spPr>
      </p:sp>
      <p:sp>
        <p:nvSpPr>
          <p:cNvPr id="3" name="Text 1"/>
          <p:cNvSpPr/>
          <p:nvPr/>
        </p:nvSpPr>
        <p:spPr>
          <a:xfrm>
            <a:off x="1282668" y="2041472"/>
            <a:ext cx="5410065" cy="253995"/>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E-commerce Integration
</a:t>
            </a:r>
            <a:endParaRPr lang="en-US" sz="1400" dirty="0"/>
          </a:p>
        </p:txBody>
      </p:sp>
      <p:sp>
        <p:nvSpPr>
          <p:cNvPr id="4" name="Text 2"/>
          <p:cNvSpPr/>
          <p:nvPr/>
        </p:nvSpPr>
        <p:spPr>
          <a:xfrm>
            <a:off x="1282668" y="2346265"/>
            <a:ext cx="5410065" cy="773292"/>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The POC seamlessly integrates an e-commerce site with n8n, enabling automated workflows that respond to visitor actions in real-time, enhancing operational efficiency.
</a:t>
            </a:r>
            <a:endParaRPr lang="en-US" sz="1300" dirty="0"/>
          </a:p>
        </p:txBody>
      </p:sp>
      <p:sp>
        <p:nvSpPr>
          <p:cNvPr id="5" name="Text 3"/>
          <p:cNvSpPr/>
          <p:nvPr/>
        </p:nvSpPr>
        <p:spPr>
          <a:xfrm>
            <a:off x="1282668" y="3348150"/>
            <a:ext cx="5410065" cy="253995"/>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Real-time Data Processing
</a:t>
            </a:r>
            <a:endParaRPr lang="en-US" sz="1400" dirty="0"/>
          </a:p>
        </p:txBody>
      </p:sp>
      <p:sp>
        <p:nvSpPr>
          <p:cNvPr id="6" name="Text 4"/>
          <p:cNvSpPr/>
          <p:nvPr/>
        </p:nvSpPr>
        <p:spPr>
          <a:xfrm>
            <a:off x="1282668" y="3652943"/>
            <a:ext cx="5410065" cy="773292"/>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Visitor events trigger a webhook that processes data instantly, allowing for immediate AI-driven decisions based on user behavior and context, improving engagement.
</a:t>
            </a:r>
            <a:endParaRPr lang="en-US" sz="1300" dirty="0"/>
          </a:p>
        </p:txBody>
      </p:sp>
      <p:sp>
        <p:nvSpPr>
          <p:cNvPr id="7" name="Text 5"/>
          <p:cNvSpPr/>
          <p:nvPr/>
        </p:nvSpPr>
        <p:spPr>
          <a:xfrm>
            <a:off x="1282668" y="4654829"/>
            <a:ext cx="5410065" cy="253995"/>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AI Decision Layer
</a:t>
            </a:r>
            <a:endParaRPr lang="en-US" sz="1400" dirty="0"/>
          </a:p>
        </p:txBody>
      </p:sp>
      <p:sp>
        <p:nvSpPr>
          <p:cNvPr id="8" name="Text 6"/>
          <p:cNvSpPr/>
          <p:nvPr/>
        </p:nvSpPr>
        <p:spPr>
          <a:xfrm>
            <a:off x="1282668" y="4959621"/>
            <a:ext cx="5410065" cy="773292"/>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Utilizing OpenAI technology, the AI decision layer assesses visitor context, ensuring tailored interventions that maximize conversion opportunities and minimize unnecessary outreach.
</a:t>
            </a:r>
            <a:endParaRPr lang="en-US" sz="1300" dirty="0"/>
          </a:p>
        </p:txBody>
      </p:sp>
      <p:sp>
        <p:nvSpPr>
          <p:cNvPr id="9" name="Text 7"/>
          <p:cNvSpPr/>
          <p:nvPr/>
        </p:nvSpPr>
        <p:spPr>
          <a:xfrm>
            <a:off x="7365815" y="6578437"/>
            <a:ext cx="1098523" cy="177792"/>
          </a:xfrm>
          <a:prstGeom prst="rect">
            <a:avLst/>
          </a:prstGeom>
          <a:noFill/>
          <a:ln/>
        </p:spPr>
        <p:txBody>
          <a:bodyPr wrap="square" lIns="1016" tIns="1016" rIns="1016" bIns="1016" rtlCol="0" anchor="t"/>
          <a:lstStyle/>
          <a:p>
            <a:pPr indent="0" marL="0">
              <a:lnSpc>
                <a:spcPct val="140000"/>
              </a:lnSpc>
              <a:buNone/>
            </a:pPr>
            <a:r>
              <a:rPr lang="en-US" sz="900" dirty="0">
                <a:solidFill>
                  <a:srgbClr val="FFFFFF"/>
                </a:solidFill>
                <a:latin typeface="Segoe UI" pitchFamily="34" charset="0"/>
                <a:ea typeface="Segoe UI" pitchFamily="34" charset="-122"/>
                <a:cs typeface="Segoe UI" pitchFamily="34" charset="-120"/>
              </a:rPr>
              <a:t>Photo by Growtika
</a:t>
            </a:r>
            <a:endParaRPr lang="en-US" sz="900" dirty="0"/>
          </a:p>
        </p:txBody>
      </p:sp>
      <p:sp>
        <p:nvSpPr>
          <p:cNvPr id="10" name="Text 8"/>
          <p:cNvSpPr/>
          <p:nvPr/>
        </p:nvSpPr>
        <p:spPr>
          <a:xfrm>
            <a:off x="711182" y="1112016"/>
            <a:ext cx="5994250" cy="396070"/>
          </a:xfrm>
          <a:prstGeom prst="rect">
            <a:avLst/>
          </a:prstGeom>
          <a:noFill/>
          <a:ln/>
        </p:spPr>
        <p:txBody>
          <a:bodyPr wrap="square" lIns="1016" tIns="1016" rIns="1016" bIns="1016" rtlCol="0" anchor="t"/>
          <a:lstStyle/>
          <a:p>
            <a:pPr indent="0" marL="0">
              <a:lnSpc>
                <a:spcPct val="120000"/>
              </a:lnSpc>
              <a:buNone/>
            </a:pPr>
            <a:r>
              <a:rPr lang="en-US" sz="2300" b="1" dirty="0">
                <a:solidFill>
                  <a:srgbClr val="0F172A"/>
                </a:solidFill>
                <a:latin typeface="Segoe UI" pitchFamily="34" charset="0"/>
                <a:ea typeface="Segoe UI" pitchFamily="34" charset="-122"/>
                <a:cs typeface="Segoe UI" pitchFamily="34" charset="-120"/>
              </a:rPr>
              <a:t>Proof of Concept (POC)
</a:t>
            </a:r>
            <a:endParaRPr lang="en-US" sz="2300" dirty="0"/>
          </a:p>
        </p:txBody>
      </p:sp>
      <p:sp>
        <p:nvSpPr>
          <p:cNvPr id="11" name="Shape 9"/>
          <p:cNvSpPr/>
          <p:nvPr/>
        </p:nvSpPr>
        <p:spPr>
          <a:xfrm>
            <a:off x="711182" y="1736680"/>
            <a:ext cx="660384" cy="63500"/>
          </a:xfrm>
          <a:prstGeom prst="ellipse">
            <a:avLst/>
          </a:prstGeom>
          <a:solidFill>
            <a:srgbClr val="7C3AED"/>
          </a:solidFill>
          <a:ln/>
        </p:spPr>
      </p:sp>
      <p:sp>
        <p:nvSpPr>
          <p:cNvPr id="12" name="Shape 10"/>
          <p:cNvSpPr/>
          <p:nvPr/>
        </p:nvSpPr>
        <p:spPr>
          <a:xfrm>
            <a:off x="711182" y="2041472"/>
            <a:ext cx="380990" cy="380990"/>
          </a:xfrm>
          <a:prstGeom prst="ellipse">
            <a:avLst/>
          </a:prstGeom>
          <a:solidFill>
            <a:srgbClr val="7C3AED">
              <a:alpha val="12000"/>
            </a:srgbClr>
          </a:solidFill>
          <a:ln/>
        </p:spPr>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00081" y="2130374"/>
            <a:ext cx="203193" cy="203193"/>
          </a:xfrm>
          <a:prstGeom prst="rect">
            <a:avLst/>
          </a:prstGeom>
        </p:spPr>
      </p:pic>
      <p:sp>
        <p:nvSpPr>
          <p:cNvPr id="14" name="Shape 11"/>
          <p:cNvSpPr/>
          <p:nvPr/>
        </p:nvSpPr>
        <p:spPr>
          <a:xfrm>
            <a:off x="711182" y="3348150"/>
            <a:ext cx="380990" cy="380990"/>
          </a:xfrm>
          <a:prstGeom prst="ellipse">
            <a:avLst/>
          </a:prstGeom>
          <a:solidFill>
            <a:srgbClr val="7C3AED">
              <a:alpha val="12000"/>
            </a:srgbClr>
          </a:solidFill>
          <a:ln/>
        </p:spPr>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0081" y="3437052"/>
            <a:ext cx="203193" cy="203193"/>
          </a:xfrm>
          <a:prstGeom prst="rect">
            <a:avLst/>
          </a:prstGeom>
        </p:spPr>
      </p:pic>
      <p:sp>
        <p:nvSpPr>
          <p:cNvPr id="16" name="Shape 12"/>
          <p:cNvSpPr/>
          <p:nvPr/>
        </p:nvSpPr>
        <p:spPr>
          <a:xfrm>
            <a:off x="711182" y="4654829"/>
            <a:ext cx="380990" cy="380990"/>
          </a:xfrm>
          <a:prstGeom prst="ellipse">
            <a:avLst/>
          </a:prstGeom>
          <a:solidFill>
            <a:srgbClr val="7C3AED">
              <a:alpha val="12000"/>
            </a:srgbClr>
          </a:solidFill>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081" y="4743730"/>
            <a:ext cx="203193" cy="203193"/>
          </a:xfrm>
          <a:prstGeom prst="rect">
            <a:avLst/>
          </a:prstGeom>
        </p:spPr>
      </p:pic>
      <p:sp>
        <p:nvSpPr>
          <p:cNvPr id="18" name="Shape 13"/>
          <p:cNvSpPr/>
          <p:nvPr/>
        </p:nvSpPr>
        <p:spPr>
          <a:xfrm>
            <a:off x="7137221" y="0"/>
            <a:ext cx="76198" cy="6812280"/>
          </a:xfrm>
          <a:prstGeom prst="rect">
            <a:avLst/>
          </a:prstGeom>
          <a:solidFill>
            <a:srgbClr val="7C3AED"/>
          </a:solidFill>
          <a:ln/>
        </p:spPr>
      </p:sp>
      <p:pic>
        <p:nvPicPr>
          <p:cNvPr id="19" name="Image 3" descr="preencoded.png">    </p:cNvPr>
          <p:cNvPicPr>
            <a:picLocks noChangeAspect="1"/>
          </p:cNvPicPr>
          <p:nvPr/>
        </p:nvPicPr>
        <p:blipFill>
          <a:blip r:embed="rId7"/>
          <a:srcRect l="0" r="0" t="0" b="0"/>
          <a:stretch/>
        </p:blipFill>
        <p:spPr>
          <a:xfrm>
            <a:off x="7213419" y="0"/>
            <a:ext cx="4932556" cy="6812280"/>
          </a:xfrm>
          <a:prstGeom prst="rect">
            <a:avLst/>
          </a:prstGeom>
        </p:spPr>
      </p:pic>
      <p:sp>
        <p:nvSpPr>
          <p:cNvPr id="20" name="Text 14"/>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6EE"/>
        </a:solidFill>
      </p:bgPr>
    </p:bg>
    <p:spTree>
      <p:nvGrpSpPr>
        <p:cNvPr id="1" name=""/>
        <p:cNvGrpSpPr/>
        <p:nvPr/>
      </p:nvGrpSpPr>
      <p:grpSpPr>
        <a:xfrm>
          <a:off x="0" y="0"/>
          <a:ext cx="0" cy="0"/>
          <a:chOff x="0" y="0"/>
          <a:chExt cx="0" cy="0"/>
        </a:xfrm>
      </p:grpSpPr>
      <p:sp>
        <p:nvSpPr>
          <p:cNvPr id="2" name="Text 0"/>
          <p:cNvSpPr/>
          <p:nvPr/>
        </p:nvSpPr>
        <p:spPr>
          <a:xfrm>
            <a:off x="1015975" y="3263818"/>
            <a:ext cx="3809905" cy="1777956"/>
          </a:xfrm>
          <a:prstGeom prst="rect">
            <a:avLst/>
          </a:prstGeom>
          <a:noFill/>
          <a:ln/>
        </p:spPr>
        <p:txBody>
          <a:bodyPr wrap="square" lIns="1016" tIns="1016" rIns="1016" bIns="1016" rtlCol="0" anchor="t"/>
          <a:lstStyle/>
          <a:p>
            <a:pPr algn="l" indent="0" marL="0">
              <a:lnSpc>
                <a:spcPct val="120000"/>
              </a:lnSpc>
              <a:buNone/>
            </a:pPr>
            <a:r>
              <a:rPr lang="en-US" sz="2300" b="1" dirty="0">
                <a:solidFill>
                  <a:srgbClr val="7C3AED"/>
                </a:solidFill>
                <a:latin typeface="Segoe UI" pitchFamily="34" charset="0"/>
                <a:ea typeface="Segoe UI" pitchFamily="34" charset="-122"/>
                <a:cs typeface="Segoe UI" pitchFamily="34" charset="-120"/>
              </a:rPr>
              <a:t>NOVA AI Architecture Overview
</a:t>
            </a:r>
            <a:endParaRPr lang="en-US" sz="2300" dirty="0"/>
          </a:p>
        </p:txBody>
      </p:sp>
      <p:sp>
        <p:nvSpPr>
          <p:cNvPr id="3" name="Text 1"/>
          <p:cNvSpPr/>
          <p:nvPr/>
        </p:nvSpPr>
        <p:spPr>
          <a:xfrm>
            <a:off x="5333867" y="3263818"/>
            <a:ext cx="5841854" cy="2882828"/>
          </a:xfrm>
          <a:prstGeom prst="rect">
            <a:avLst/>
          </a:prstGeom>
          <a:noFill/>
          <a:ln/>
        </p:spPr>
        <p:txBody>
          <a:bodyPr wrap="square" lIns="1016" tIns="1016" rIns="1016" bIns="1016" rtlCol="0" anchor="t"/>
          <a:lstStyle/>
          <a:p>
            <a:pPr algn="l" indent="0" marL="0">
              <a:lnSpc>
                <a:spcPct val="150000"/>
              </a:lnSpc>
              <a:buNone/>
            </a:pPr>
            <a:r>
              <a:rPr lang="en-US" sz="1300" dirty="0">
                <a:solidFill>
                  <a:srgbClr val="475569"/>
                </a:solidFill>
                <a:latin typeface="Calibri" pitchFamily="34" charset="0"/>
                <a:ea typeface="Calibri" pitchFamily="34" charset="-122"/>
                <a:cs typeface="Calibri" pitchFamily="34" charset="-120"/>
              </a:rPr>
              <a:t>This visual representation illustrates the end-to-end architecture of NOVA AI, showcasing how visitor events trigger AI-driven decisions. Key components include the n8n webhook, behavior analysis, and action execution pathways. The takeaway is the seamless integration of AI into e-commerce workflows, enhancing visitor engagement and conversion rates.
</a:t>
            </a:r>
            <a:endParaRPr lang="en-US" sz="1300" dirty="0"/>
          </a:p>
        </p:txBody>
      </p:sp>
      <p:pic>
        <p:nvPicPr>
          <p:cNvPr id="4" name="Image 0" descr="preencoded.png">    </p:cNvPr>
          <p:cNvPicPr>
            <a:picLocks noChangeAspect="1"/>
          </p:cNvPicPr>
          <p:nvPr/>
        </p:nvPicPr>
        <p:blipFill>
          <a:blip r:embed="rId1"/>
          <a:srcRect l="0" r="0" t="0" b="0"/>
          <a:stretch/>
        </p:blipFill>
        <p:spPr>
          <a:xfrm>
            <a:off x="0" y="0"/>
            <a:ext cx="12145975" cy="2603435"/>
          </a:xfrm>
          <a:prstGeom prst="rect">
            <a:avLst/>
          </a:prstGeom>
        </p:spPr>
      </p:pic>
      <p:sp>
        <p:nvSpPr>
          <p:cNvPr id="5" name="Shape 2"/>
          <p:cNvSpPr/>
          <p:nvPr/>
        </p:nvSpPr>
        <p:spPr>
          <a:xfrm>
            <a:off x="1015975" y="2984425"/>
            <a:ext cx="711182" cy="63498"/>
          </a:xfrm>
          <a:prstGeom prst="rect">
            <a:avLst/>
          </a:prstGeom>
          <a:solidFill>
            <a:srgbClr val="7C3AED"/>
          </a:solidFill>
          <a:ln/>
        </p:spPr>
      </p:sp>
      <p:sp>
        <p:nvSpPr>
          <p:cNvPr id="6" name="Text 3"/>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6EE"/>
        </a:solidFill>
      </p:bgPr>
    </p:bg>
    <p:spTree>
      <p:nvGrpSpPr>
        <p:cNvPr id="1" name=""/>
        <p:cNvGrpSpPr/>
        <p:nvPr/>
      </p:nvGrpSpPr>
      <p:grpSpPr>
        <a:xfrm>
          <a:off x="0" y="0"/>
          <a:ext cx="0" cy="0"/>
          <a:chOff x="0" y="0"/>
          <a:chExt cx="0" cy="0"/>
        </a:xfrm>
      </p:grpSpPr>
      <p:sp>
        <p:nvSpPr>
          <p:cNvPr id="2" name="Shape 0"/>
          <p:cNvSpPr/>
          <p:nvPr/>
        </p:nvSpPr>
        <p:spPr>
          <a:xfrm>
            <a:off x="761981" y="1508883"/>
            <a:ext cx="5219570" cy="2765753"/>
          </a:xfrm>
          <a:prstGeom prst="roundRect">
            <a:avLst>
              <a:gd name="adj" fmla="val 6428"/>
            </a:avLst>
          </a:prstGeom>
          <a:solidFill>
            <a:srgbClr val="000000">
              <a:alpha val="0"/>
            </a:srgbClr>
          </a:solidFill>
          <a:ln w="12700">
            <a:solidFill>
              <a:srgbClr val="0F172A">
                <a:alpha val="18000"/>
              </a:srgbClr>
            </a:solidFill>
            <a:prstDash val="solid"/>
          </a:ln>
        </p:spPr>
      </p:sp>
      <p:sp>
        <p:nvSpPr>
          <p:cNvPr id="3" name="Shape 1"/>
          <p:cNvSpPr/>
          <p:nvPr/>
        </p:nvSpPr>
        <p:spPr>
          <a:xfrm>
            <a:off x="850879" y="3957140"/>
            <a:ext cx="1165394" cy="228594"/>
          </a:xfrm>
          <a:prstGeom prst="rect">
            <a:avLst/>
          </a:prstGeom>
          <a:solidFill>
            <a:srgbClr val="000000">
              <a:alpha val="60000"/>
            </a:srgbClr>
          </a:solidFill>
          <a:ln/>
        </p:spPr>
      </p:sp>
      <p:sp>
        <p:nvSpPr>
          <p:cNvPr id="4" name="Shape 2"/>
          <p:cNvSpPr/>
          <p:nvPr/>
        </p:nvSpPr>
        <p:spPr>
          <a:xfrm>
            <a:off x="6210145" y="1508883"/>
            <a:ext cx="5219570" cy="2765753"/>
          </a:xfrm>
          <a:prstGeom prst="roundRect">
            <a:avLst>
              <a:gd name="adj" fmla="val 6428"/>
            </a:avLst>
          </a:prstGeom>
          <a:solidFill>
            <a:srgbClr val="000000">
              <a:alpha val="0"/>
            </a:srgbClr>
          </a:solidFill>
          <a:ln w="12700">
            <a:solidFill>
              <a:srgbClr val="0F172A">
                <a:alpha val="18000"/>
              </a:srgbClr>
            </a:solidFill>
            <a:prstDash val="solid"/>
          </a:ln>
        </p:spPr>
      </p:sp>
      <p:sp>
        <p:nvSpPr>
          <p:cNvPr id="5" name="Shape 3"/>
          <p:cNvSpPr/>
          <p:nvPr/>
        </p:nvSpPr>
        <p:spPr>
          <a:xfrm>
            <a:off x="6299042" y="3957140"/>
            <a:ext cx="1691043" cy="228594"/>
          </a:xfrm>
          <a:prstGeom prst="rect">
            <a:avLst/>
          </a:prstGeom>
          <a:solidFill>
            <a:srgbClr val="000000">
              <a:alpha val="60000"/>
            </a:srgbClr>
          </a:solidFill>
          <a:ln/>
        </p:spPr>
      </p:sp>
      <p:sp>
        <p:nvSpPr>
          <p:cNvPr id="6" name="Shape 4"/>
          <p:cNvSpPr/>
          <p:nvPr/>
        </p:nvSpPr>
        <p:spPr>
          <a:xfrm>
            <a:off x="761981" y="4503230"/>
            <a:ext cx="10667733" cy="1480702"/>
          </a:xfrm>
          <a:prstGeom prst="roundRect">
            <a:avLst>
              <a:gd name="adj" fmla="val 12008"/>
            </a:avLst>
          </a:prstGeom>
          <a:solidFill>
            <a:srgbClr val="000000">
              <a:alpha val="0"/>
            </a:srgbClr>
          </a:solidFill>
          <a:ln w="12700">
            <a:solidFill>
              <a:srgbClr val="0F172A">
                <a:alpha val="18000"/>
              </a:srgbClr>
            </a:solidFill>
            <a:prstDash val="solid"/>
          </a:ln>
        </p:spPr>
      </p:sp>
      <p:sp>
        <p:nvSpPr>
          <p:cNvPr id="7" name="Shape 5"/>
          <p:cNvSpPr/>
          <p:nvPr/>
        </p:nvSpPr>
        <p:spPr>
          <a:xfrm>
            <a:off x="850879" y="5666436"/>
            <a:ext cx="1655920" cy="228594"/>
          </a:xfrm>
          <a:prstGeom prst="rect">
            <a:avLst/>
          </a:prstGeom>
          <a:solidFill>
            <a:srgbClr val="000000">
              <a:alpha val="60000"/>
            </a:srgbClr>
          </a:solidFill>
          <a:ln/>
        </p:spPr>
      </p:sp>
      <p:sp>
        <p:nvSpPr>
          <p:cNvPr id="8" name="Text 6"/>
          <p:cNvSpPr/>
          <p:nvPr/>
        </p:nvSpPr>
        <p:spPr>
          <a:xfrm>
            <a:off x="1015975" y="507987"/>
            <a:ext cx="10159746" cy="761981"/>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7C3AED"/>
                </a:solidFill>
                <a:latin typeface="Segoe UI" pitchFamily="34" charset="0"/>
                <a:ea typeface="Segoe UI" pitchFamily="34" charset="-122"/>
                <a:cs typeface="Segoe UI" pitchFamily="34" charset="-120"/>
              </a:rPr>
              <a:t>Business Case for NOVA AI
</a:t>
            </a:r>
            <a:endParaRPr lang="en-US" sz="2900" dirty="0"/>
          </a:p>
        </p:txBody>
      </p:sp>
      <p:sp>
        <p:nvSpPr>
          <p:cNvPr id="9" name="Text 7"/>
          <p:cNvSpPr/>
          <p:nvPr/>
        </p:nvSpPr>
        <p:spPr>
          <a:xfrm>
            <a:off x="3060623" y="1991467"/>
            <a:ext cx="2717732" cy="507991"/>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Improved Conversion Rates
</a:t>
            </a:r>
            <a:endParaRPr lang="en-US" sz="1400" dirty="0"/>
          </a:p>
        </p:txBody>
      </p:sp>
      <p:sp>
        <p:nvSpPr>
          <p:cNvPr id="10" name="Text 8"/>
          <p:cNvSpPr/>
          <p:nvPr/>
        </p:nvSpPr>
        <p:spPr>
          <a:xfrm>
            <a:off x="3060623" y="2550255"/>
            <a:ext cx="2717732" cy="1546583"/>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NOVA AI can increase conversion rates by up to 20%, translating to significant revenue growth for e-commerce platforms, especially in competitive markets.
</a:t>
            </a:r>
            <a:endParaRPr lang="en-US" sz="1300" dirty="0"/>
          </a:p>
        </p:txBody>
      </p:sp>
      <p:sp>
        <p:nvSpPr>
          <p:cNvPr id="11" name="Text 9"/>
          <p:cNvSpPr/>
          <p:nvPr/>
        </p:nvSpPr>
        <p:spPr>
          <a:xfrm>
            <a:off x="8508787" y="2118468"/>
            <a:ext cx="2717732" cy="253990"/>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Reduced Manual Efforts
</a:t>
            </a:r>
            <a:endParaRPr lang="en-US" sz="1400" dirty="0"/>
          </a:p>
        </p:txBody>
      </p:sp>
      <p:sp>
        <p:nvSpPr>
          <p:cNvPr id="12" name="Text 10"/>
          <p:cNvSpPr/>
          <p:nvPr/>
        </p:nvSpPr>
        <p:spPr>
          <a:xfrm>
            <a:off x="8508787" y="2423260"/>
            <a:ext cx="2717732" cy="1546583"/>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By automating campaign management, NOVA AI reduces manual efforts by approximately 50%, allowing teams to focus on strategic initiatives rather than repetitive tasks.
</a:t>
            </a:r>
            <a:endParaRPr lang="en-US" sz="1300" dirty="0"/>
          </a:p>
        </p:txBody>
      </p:sp>
      <p:sp>
        <p:nvSpPr>
          <p:cNvPr id="13" name="Text 11"/>
          <p:cNvSpPr/>
          <p:nvPr/>
        </p:nvSpPr>
        <p:spPr>
          <a:xfrm>
            <a:off x="3060623" y="4985820"/>
            <a:ext cx="8165895" cy="253990"/>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Enhanced Targeting Efficiency
</a:t>
            </a:r>
            <a:endParaRPr lang="en-US" sz="1400" dirty="0"/>
          </a:p>
        </p:txBody>
      </p:sp>
      <p:sp>
        <p:nvSpPr>
          <p:cNvPr id="14" name="Text 12"/>
          <p:cNvSpPr/>
          <p:nvPr/>
        </p:nvSpPr>
        <p:spPr>
          <a:xfrm>
            <a:off x="3060623" y="5290612"/>
            <a:ext cx="8165895" cy="515528"/>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NOVA AI's intelligent interventions lead to a 30% reduction in wasted marketing resources, ensuring communications are relevant and timely for each visitor.
</a:t>
            </a:r>
            <a:endParaRPr lang="en-US" sz="1300" dirty="0"/>
          </a:p>
        </p:txBody>
      </p:sp>
      <p:sp>
        <p:nvSpPr>
          <p:cNvPr id="15" name="Text 13"/>
          <p:cNvSpPr/>
          <p:nvPr/>
        </p:nvSpPr>
        <p:spPr>
          <a:xfrm>
            <a:off x="927077" y="3982541"/>
            <a:ext cx="1012998" cy="177797"/>
          </a:xfrm>
          <a:prstGeom prst="rect">
            <a:avLst/>
          </a:prstGeom>
          <a:noFill/>
          <a:ln/>
        </p:spPr>
        <p:txBody>
          <a:bodyPr wrap="square" lIns="1016" tIns="1016" rIns="1016" bIns="1016" rtlCol="0" anchor="t"/>
          <a:lstStyle/>
          <a:p>
            <a:pPr indent="0" marL="0">
              <a:lnSpc>
                <a:spcPct val="140000"/>
              </a:lnSpc>
              <a:buNone/>
            </a:pPr>
            <a:r>
              <a:rPr lang="en-US" sz="900" dirty="0">
                <a:solidFill>
                  <a:srgbClr val="FFFFFF"/>
                </a:solidFill>
                <a:latin typeface="Segoe UI" pitchFamily="34" charset="0"/>
                <a:ea typeface="Segoe UI" pitchFamily="34" charset="-122"/>
                <a:cs typeface="Segoe UI" pitchFamily="34" charset="-120"/>
              </a:rPr>
              <a:t>Photo by sarah b
</a:t>
            </a:r>
            <a:endParaRPr lang="en-US" sz="900" dirty="0"/>
          </a:p>
        </p:txBody>
      </p:sp>
      <p:sp>
        <p:nvSpPr>
          <p:cNvPr id="16" name="Text 14"/>
          <p:cNvSpPr/>
          <p:nvPr/>
        </p:nvSpPr>
        <p:spPr>
          <a:xfrm>
            <a:off x="6375240" y="3982541"/>
            <a:ext cx="1538646" cy="177797"/>
          </a:xfrm>
          <a:prstGeom prst="rect">
            <a:avLst/>
          </a:prstGeom>
          <a:noFill/>
          <a:ln/>
        </p:spPr>
        <p:txBody>
          <a:bodyPr wrap="square" lIns="1016" tIns="1016" rIns="1016" bIns="1016" rtlCol="0" anchor="t"/>
          <a:lstStyle/>
          <a:p>
            <a:pPr indent="0" marL="0">
              <a:lnSpc>
                <a:spcPct val="140000"/>
              </a:lnSpc>
              <a:buNone/>
            </a:pPr>
            <a:r>
              <a:rPr lang="en-US" sz="900" dirty="0">
                <a:solidFill>
                  <a:srgbClr val="FFFFFF"/>
                </a:solidFill>
                <a:latin typeface="Segoe UI" pitchFamily="34" charset="0"/>
                <a:ea typeface="Segoe UI" pitchFamily="34" charset="-122"/>
                <a:cs typeface="Segoe UI" pitchFamily="34" charset="-120"/>
              </a:rPr>
              <a:t>Photo by Immo Wegmann
</a:t>
            </a:r>
            <a:endParaRPr lang="en-US" sz="900" dirty="0"/>
          </a:p>
        </p:txBody>
      </p:sp>
      <p:sp>
        <p:nvSpPr>
          <p:cNvPr id="17" name="Text 15"/>
          <p:cNvSpPr/>
          <p:nvPr/>
        </p:nvSpPr>
        <p:spPr>
          <a:xfrm>
            <a:off x="927077" y="5691842"/>
            <a:ext cx="1503523" cy="177792"/>
          </a:xfrm>
          <a:prstGeom prst="rect">
            <a:avLst/>
          </a:prstGeom>
          <a:noFill/>
          <a:ln/>
        </p:spPr>
        <p:txBody>
          <a:bodyPr wrap="square" lIns="1016" tIns="1016" rIns="1016" bIns="1016" rtlCol="0" anchor="t"/>
          <a:lstStyle/>
          <a:p>
            <a:pPr indent="0" marL="0">
              <a:lnSpc>
                <a:spcPct val="140000"/>
              </a:lnSpc>
              <a:buNone/>
            </a:pPr>
            <a:r>
              <a:rPr lang="en-US" sz="900" dirty="0">
                <a:solidFill>
                  <a:srgbClr val="FFFFFF"/>
                </a:solidFill>
                <a:latin typeface="Segoe UI" pitchFamily="34" charset="0"/>
                <a:ea typeface="Segoe UI" pitchFamily="34" charset="-122"/>
                <a:cs typeface="Segoe UI" pitchFamily="34" charset="-120"/>
              </a:rPr>
              <a:t>Photo by Markus Winkler
</a:t>
            </a:r>
            <a:endParaRPr lang="en-US" sz="900" dirty="0"/>
          </a:p>
        </p:txBody>
      </p:sp>
      <p:pic>
        <p:nvPicPr>
          <p:cNvPr id="1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047924" y="1673977"/>
            <a:ext cx="228594" cy="228594"/>
          </a:xfrm>
          <a:prstGeom prst="rect">
            <a:avLst/>
          </a:prstGeom>
        </p:spPr>
      </p:pic>
      <p:pic>
        <p:nvPicPr>
          <p:cNvPr id="1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96088" y="1800972"/>
            <a:ext cx="228594" cy="228594"/>
          </a:xfrm>
          <a:prstGeom prst="rect">
            <a:avLst/>
          </a:prstGeom>
        </p:spPr>
      </p:pic>
      <p:pic>
        <p:nvPicPr>
          <p:cNvPr id="2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47924" y="4668324"/>
            <a:ext cx="228594" cy="228594"/>
          </a:xfrm>
          <a:prstGeom prst="rect">
            <a:avLst/>
          </a:prstGeom>
        </p:spPr>
      </p:pic>
      <p:pic>
        <p:nvPicPr>
          <p:cNvPr id="21" name="Image 3" descr="preencoded.png">    </p:cNvPr>
          <p:cNvPicPr>
            <a:picLocks noChangeAspect="1"/>
          </p:cNvPicPr>
          <p:nvPr/>
        </p:nvPicPr>
        <p:blipFill>
          <a:blip r:embed="rId7"/>
          <a:srcRect l="0" r="0" t="0" b="0"/>
          <a:stretch/>
        </p:blipFill>
        <p:spPr>
          <a:xfrm>
            <a:off x="774681" y="1521581"/>
            <a:ext cx="2095448" cy="2740352"/>
          </a:xfrm>
          <a:prstGeom prst="rect">
            <a:avLst/>
          </a:prstGeom>
        </p:spPr>
      </p:pic>
      <p:pic>
        <p:nvPicPr>
          <p:cNvPr id="22" name="Image 4" descr="preencoded.png">    </p:cNvPr>
          <p:cNvPicPr>
            <a:picLocks noChangeAspect="1"/>
          </p:cNvPicPr>
          <p:nvPr/>
        </p:nvPicPr>
        <p:blipFill>
          <a:blip r:embed="rId8"/>
          <a:srcRect l="0" r="0" t="0" b="0"/>
          <a:stretch/>
        </p:blipFill>
        <p:spPr>
          <a:xfrm>
            <a:off x="6222844" y="1521581"/>
            <a:ext cx="2095448" cy="2740352"/>
          </a:xfrm>
          <a:prstGeom prst="rect">
            <a:avLst/>
          </a:prstGeom>
        </p:spPr>
      </p:pic>
      <p:pic>
        <p:nvPicPr>
          <p:cNvPr id="23" name="Image 5" descr="preencoded.png">    </p:cNvPr>
          <p:cNvPicPr>
            <a:picLocks noChangeAspect="1"/>
          </p:cNvPicPr>
          <p:nvPr/>
        </p:nvPicPr>
        <p:blipFill>
          <a:blip r:embed="rId9"/>
          <a:srcRect l="0" r="0" t="0" b="0"/>
          <a:stretch/>
        </p:blipFill>
        <p:spPr>
          <a:xfrm>
            <a:off x="774681" y="4515928"/>
            <a:ext cx="2095448" cy="1455301"/>
          </a:xfrm>
          <a:prstGeom prst="rect">
            <a:avLst/>
          </a:prstGeom>
        </p:spPr>
      </p:pic>
      <p:sp>
        <p:nvSpPr>
          <p:cNvPr id="24" name="Text 16"/>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6EE"/>
        </a:solidFill>
      </p:bgPr>
    </p:bg>
    <p:spTree>
      <p:nvGrpSpPr>
        <p:cNvPr id="1" name=""/>
        <p:cNvGrpSpPr/>
        <p:nvPr/>
      </p:nvGrpSpPr>
      <p:grpSpPr>
        <a:xfrm>
          <a:off x="0" y="0"/>
          <a:ext cx="0" cy="0"/>
          <a:chOff x="0" y="0"/>
          <a:chExt cx="0" cy="0"/>
        </a:xfrm>
      </p:grpSpPr>
      <p:sp>
        <p:nvSpPr>
          <p:cNvPr id="2" name="Text 0"/>
          <p:cNvSpPr/>
          <p:nvPr/>
        </p:nvSpPr>
        <p:spPr>
          <a:xfrm>
            <a:off x="1015975" y="761981"/>
            <a:ext cx="7213420" cy="533387"/>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7C3AED"/>
                </a:solidFill>
                <a:latin typeface="Calibri" pitchFamily="34" charset="0"/>
                <a:ea typeface="Calibri" pitchFamily="34" charset="-122"/>
                <a:cs typeface="Calibri" pitchFamily="34" charset="-120"/>
              </a:rPr>
              <a:t>Projected ROI Analysis
</a:t>
            </a:r>
            <a:endParaRPr lang="en-US" sz="2900" dirty="0"/>
          </a:p>
        </p:txBody>
      </p:sp>
      <p:pic>
        <p:nvPicPr>
          <p:cNvPr id="3" name="Image 0" descr="preencoded.png">    </p:cNvPr>
          <p:cNvPicPr>
            <a:picLocks noChangeAspect="1"/>
          </p:cNvPicPr>
          <p:nvPr/>
        </p:nvPicPr>
        <p:blipFill>
          <a:blip r:embed="rId1"/>
          <a:stretch>
            <a:fillRect/>
          </a:stretch>
        </p:blipFill>
        <p:spPr>
          <a:xfrm>
            <a:off x="8534187" y="2200538"/>
            <a:ext cx="3611789" cy="2411203"/>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015975" y="1650959"/>
          <a:ext cx="7213420" cy="4711582"/>
        </p:xfrm>
        <a:graphic>
          <a:graphicData uri="http://schemas.openxmlformats.org/drawingml/2006/table">
            <a:tbl>
              <a:tblPr/>
              <a:tblGrid>
                <a:gridCol w="2404473"/>
                <a:gridCol w="2404473"/>
                <a:gridCol w="2404473"/>
              </a:tblGrid>
              <a:tr h="942316">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Time Frame</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Projected ROI (%)</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Key Assumptions</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942316">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12 Months</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150%</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Existing visitor data available</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942316">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36 Months</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300%</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Variable AI usage with traffic</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942316">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Integration Costs</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Depends on infrastructure</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942316">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Conversion Uplift</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To be validated</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Pilot phase required</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
        <p:nvSpPr>
          <p:cNvPr id="5" name="Text 1"/>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DF6EE"/>
        </a:solidFill>
      </p:bgPr>
    </p:bg>
    <p:spTree>
      <p:nvGrpSpPr>
        <p:cNvPr id="1" name=""/>
        <p:cNvGrpSpPr/>
        <p:nvPr/>
      </p:nvGrpSpPr>
      <p:grpSpPr>
        <a:xfrm>
          <a:off x="0" y="0"/>
          <a:ext cx="0" cy="0"/>
          <a:chOff x="0" y="0"/>
          <a:chExt cx="0" cy="0"/>
        </a:xfrm>
      </p:grpSpPr>
      <p:sp>
        <p:nvSpPr>
          <p:cNvPr id="2" name="Shape 0"/>
          <p:cNvSpPr/>
          <p:nvPr/>
        </p:nvSpPr>
        <p:spPr>
          <a:xfrm>
            <a:off x="10033344" y="6553036"/>
            <a:ext cx="2082153" cy="228594"/>
          </a:xfrm>
          <a:prstGeom prst="rect">
            <a:avLst/>
          </a:prstGeom>
          <a:solidFill>
            <a:srgbClr val="000000">
              <a:alpha val="60000"/>
            </a:srgbClr>
          </a:solidFill>
          <a:ln/>
        </p:spPr>
      </p:sp>
      <p:sp>
        <p:nvSpPr>
          <p:cNvPr id="3" name="Text 1"/>
          <p:cNvSpPr/>
          <p:nvPr/>
        </p:nvSpPr>
        <p:spPr>
          <a:xfrm>
            <a:off x="609585" y="2113307"/>
            <a:ext cx="3536861" cy="253990"/>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AI Decision-Making Errors
</a:t>
            </a:r>
            <a:endParaRPr lang="en-US" sz="1400" dirty="0"/>
          </a:p>
        </p:txBody>
      </p:sp>
      <p:sp>
        <p:nvSpPr>
          <p:cNvPr id="4" name="Text 2"/>
          <p:cNvSpPr/>
          <p:nvPr/>
        </p:nvSpPr>
        <p:spPr>
          <a:xfrm>
            <a:off x="609585" y="2418099"/>
            <a:ext cx="3536861" cy="1288819"/>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Incorrect AI decisions can lead to poor customer experiences, potentially resulting in a 20% drop in customer satisfaction scores, impacting long-term loyalty and revenue.
</a:t>
            </a:r>
            <a:endParaRPr lang="en-US" sz="1300" dirty="0"/>
          </a:p>
        </p:txBody>
      </p:sp>
      <p:sp>
        <p:nvSpPr>
          <p:cNvPr id="5" name="Text 3"/>
          <p:cNvSpPr/>
          <p:nvPr/>
        </p:nvSpPr>
        <p:spPr>
          <a:xfrm>
            <a:off x="4781430" y="2113307"/>
            <a:ext cx="3536861" cy="253990"/>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Privacy Concerns
</a:t>
            </a:r>
            <a:endParaRPr lang="en-US" sz="1400" dirty="0"/>
          </a:p>
        </p:txBody>
      </p:sp>
      <p:sp>
        <p:nvSpPr>
          <p:cNvPr id="6" name="Text 4"/>
          <p:cNvSpPr/>
          <p:nvPr/>
        </p:nvSpPr>
        <p:spPr>
          <a:xfrm>
            <a:off x="4781430" y="2418099"/>
            <a:ext cx="3536861" cy="1288819"/>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Data handling must comply with GDPR regulations, ensuring visitor consent and minimizing data usage to avoid potential fines of up to €20 million or 4% of annual revenue.
</a:t>
            </a:r>
            <a:endParaRPr lang="en-US" sz="1300" dirty="0"/>
          </a:p>
        </p:txBody>
      </p:sp>
      <p:sp>
        <p:nvSpPr>
          <p:cNvPr id="7" name="Text 5"/>
          <p:cNvSpPr/>
          <p:nvPr/>
        </p:nvSpPr>
        <p:spPr>
          <a:xfrm>
            <a:off x="609585" y="4545097"/>
            <a:ext cx="7708707" cy="253990"/>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Over-Intervention Risks
</a:t>
            </a:r>
            <a:endParaRPr lang="en-US" sz="1400" dirty="0"/>
          </a:p>
        </p:txBody>
      </p:sp>
      <p:sp>
        <p:nvSpPr>
          <p:cNvPr id="8" name="Text 6"/>
          <p:cNvSpPr/>
          <p:nvPr/>
        </p:nvSpPr>
        <p:spPr>
          <a:xfrm>
            <a:off x="609585" y="4849890"/>
            <a:ext cx="7708707" cy="773292"/>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Excessive customer outreach can lead to fatigue, with studies showing a 30% increase in unsubscribe rates when customers receive too many communications, harming engagement.
</a:t>
            </a:r>
            <a:endParaRPr lang="en-US" sz="1300" dirty="0"/>
          </a:p>
        </p:txBody>
      </p:sp>
      <p:sp>
        <p:nvSpPr>
          <p:cNvPr id="9" name="Text 7"/>
          <p:cNvSpPr/>
          <p:nvPr/>
        </p:nvSpPr>
        <p:spPr>
          <a:xfrm>
            <a:off x="10109542" y="6578432"/>
            <a:ext cx="1929757" cy="177803"/>
          </a:xfrm>
          <a:prstGeom prst="rect">
            <a:avLst/>
          </a:prstGeom>
          <a:noFill/>
          <a:ln/>
        </p:spPr>
        <p:txBody>
          <a:bodyPr wrap="square" lIns="1016" tIns="1016" rIns="1016" bIns="1016" rtlCol="0" anchor="t"/>
          <a:lstStyle/>
          <a:p>
            <a:pPr indent="0" marL="0">
              <a:lnSpc>
                <a:spcPct val="140000"/>
              </a:lnSpc>
              <a:buNone/>
            </a:pPr>
            <a:r>
              <a:rPr lang="en-US" sz="900" dirty="0">
                <a:solidFill>
                  <a:srgbClr val="FFFFFF"/>
                </a:solidFill>
                <a:latin typeface="Segoe UI" pitchFamily="34" charset="0"/>
                <a:ea typeface="Segoe UI" pitchFamily="34" charset="-122"/>
                <a:cs typeface="Segoe UI" pitchFamily="34" charset="-120"/>
              </a:rPr>
              <a:t>Photo by Glenn Carstens-Peters
</a:t>
            </a:r>
            <a:endParaRPr lang="en-US" sz="900" dirty="0"/>
          </a:p>
        </p:txBody>
      </p:sp>
      <p:sp>
        <p:nvSpPr>
          <p:cNvPr id="10" name="Text 8"/>
          <p:cNvSpPr/>
          <p:nvPr/>
        </p:nvSpPr>
        <p:spPr>
          <a:xfrm>
            <a:off x="380990" y="1056855"/>
            <a:ext cx="8140496" cy="396064"/>
          </a:xfrm>
          <a:prstGeom prst="rect">
            <a:avLst/>
          </a:prstGeom>
          <a:noFill/>
          <a:ln/>
        </p:spPr>
        <p:txBody>
          <a:bodyPr wrap="square" lIns="1016" tIns="1016" rIns="1016" bIns="1016" rtlCol="0" anchor="t"/>
          <a:lstStyle/>
          <a:p>
            <a:pPr indent="0" marL="0">
              <a:lnSpc>
                <a:spcPct val="120000"/>
              </a:lnSpc>
              <a:buNone/>
            </a:pPr>
            <a:r>
              <a:rPr lang="en-US" sz="2300" b="1" dirty="0">
                <a:solidFill>
                  <a:srgbClr val="0F172A"/>
                </a:solidFill>
                <a:latin typeface="Segoe UI" pitchFamily="34" charset="0"/>
                <a:ea typeface="Segoe UI" pitchFamily="34" charset="-122"/>
                <a:cs typeface="Segoe UI" pitchFamily="34" charset="-120"/>
              </a:rPr>
              <a:t>Risk Management
</a:t>
            </a:r>
            <a:endParaRPr lang="en-US" sz="2300" dirty="0"/>
          </a:p>
        </p:txBody>
      </p:sp>
      <p:pic>
        <p:nvPicPr>
          <p:cNvPr id="1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96885" y="1795811"/>
            <a:ext cx="228594" cy="228594"/>
          </a:xfrm>
          <a:prstGeom prst="rect">
            <a:avLst/>
          </a:prstGeom>
        </p:spPr>
      </p:pic>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68731" y="1795811"/>
            <a:ext cx="228594" cy="228594"/>
          </a:xfrm>
          <a:prstGeom prst="rect">
            <a:avLst/>
          </a:prstGeom>
        </p:spPr>
      </p:pic>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6885" y="4227602"/>
            <a:ext cx="228594" cy="228594"/>
          </a:xfrm>
          <a:prstGeom prst="rect">
            <a:avLst/>
          </a:prstGeom>
        </p:spPr>
      </p:pic>
      <p:pic>
        <p:nvPicPr>
          <p:cNvPr id="14" name="Image 3" descr="preencoded.png">    </p:cNvPr>
          <p:cNvPicPr>
            <a:picLocks noChangeAspect="1"/>
          </p:cNvPicPr>
          <p:nvPr/>
        </p:nvPicPr>
        <p:blipFill>
          <a:blip r:embed="rId7"/>
          <a:srcRect l="0" r="0" t="0" b="0"/>
          <a:stretch/>
        </p:blipFill>
        <p:spPr>
          <a:xfrm>
            <a:off x="8775480" y="0"/>
            <a:ext cx="3370495" cy="6812280"/>
          </a:xfrm>
          <a:prstGeom prst="rect">
            <a:avLst/>
          </a:prstGeom>
        </p:spPr>
      </p:pic>
      <p:sp>
        <p:nvSpPr>
          <p:cNvPr id="15" name="Text 9"/>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DF6EE"/>
        </a:solidFill>
      </p:bgPr>
    </p:bg>
    <p:spTree>
      <p:nvGrpSpPr>
        <p:cNvPr id="1" name=""/>
        <p:cNvGrpSpPr/>
        <p:nvPr/>
      </p:nvGrpSpPr>
      <p:grpSpPr>
        <a:xfrm>
          <a:off x="0" y="0"/>
          <a:ext cx="0" cy="0"/>
          <a:chOff x="0" y="0"/>
          <a:chExt cx="0" cy="0"/>
        </a:xfrm>
      </p:grpSpPr>
      <p:sp>
        <p:nvSpPr>
          <p:cNvPr id="2" name="Shape 0"/>
          <p:cNvSpPr/>
          <p:nvPr/>
        </p:nvSpPr>
        <p:spPr>
          <a:xfrm>
            <a:off x="761981" y="2300623"/>
            <a:ext cx="5181470" cy="2891563"/>
          </a:xfrm>
          <a:prstGeom prst="roundRect">
            <a:avLst>
              <a:gd name="adj" fmla="val 6149"/>
            </a:avLst>
          </a:prstGeom>
          <a:solidFill>
            <a:srgbClr val="7C3AED">
              <a:alpha val="8000"/>
            </a:srgbClr>
          </a:solidFill>
          <a:ln w="12700">
            <a:solidFill>
              <a:srgbClr val="7C3AED">
                <a:alpha val="20000"/>
              </a:srgbClr>
            </a:solidFill>
            <a:prstDash val="solid"/>
          </a:ln>
        </p:spPr>
      </p:sp>
      <p:sp>
        <p:nvSpPr>
          <p:cNvPr id="3" name="Shape 1"/>
          <p:cNvSpPr/>
          <p:nvPr/>
        </p:nvSpPr>
        <p:spPr>
          <a:xfrm>
            <a:off x="6248244" y="2300623"/>
            <a:ext cx="5181470" cy="2891563"/>
          </a:xfrm>
          <a:prstGeom prst="roundRect">
            <a:avLst>
              <a:gd name="adj" fmla="val 6149"/>
            </a:avLst>
          </a:prstGeom>
          <a:solidFill>
            <a:srgbClr val="8B5CF6">
              <a:alpha val="8000"/>
            </a:srgbClr>
          </a:solidFill>
          <a:ln w="12700">
            <a:solidFill>
              <a:srgbClr val="8B5CF6">
                <a:alpha val="20000"/>
              </a:srgbClr>
            </a:solidFill>
            <a:prstDash val="solid"/>
          </a:ln>
        </p:spPr>
      </p:sp>
      <p:sp>
        <p:nvSpPr>
          <p:cNvPr id="4" name="Text 2"/>
          <p:cNvSpPr/>
          <p:nvPr/>
        </p:nvSpPr>
        <p:spPr>
          <a:xfrm>
            <a:off x="1015975" y="507987"/>
            <a:ext cx="10159746" cy="761981"/>
          </a:xfrm>
          <a:prstGeom prst="rect">
            <a:avLst/>
          </a:prstGeom>
          <a:noFill/>
          <a:ln/>
        </p:spPr>
        <p:txBody>
          <a:bodyPr wrap="square" lIns="1016" tIns="1016" rIns="1016" bIns="1016" rtlCol="0" anchor="t"/>
          <a:lstStyle/>
          <a:p>
            <a:pPr algn="l" indent="0" marL="0">
              <a:lnSpc>
                <a:spcPct val="130000"/>
              </a:lnSpc>
              <a:buNone/>
            </a:pPr>
            <a:r>
              <a:rPr lang="en-US" sz="2900" dirty="0">
                <a:solidFill>
                  <a:srgbClr val="7C3AED"/>
                </a:solidFill>
                <a:latin typeface="Segoe UI" pitchFamily="34" charset="0"/>
                <a:ea typeface="Segoe UI" pitchFamily="34" charset="-122"/>
                <a:cs typeface="Segoe UI" pitchFamily="34" charset="-120"/>
              </a:rPr>
              <a:t>Compliance Approaches for NOVA AI
</a:t>
            </a:r>
            <a:endParaRPr lang="en-US" sz="2900" dirty="0"/>
          </a:p>
        </p:txBody>
      </p:sp>
      <p:sp>
        <p:nvSpPr>
          <p:cNvPr id="5" name="Text 3"/>
          <p:cNvSpPr/>
          <p:nvPr/>
        </p:nvSpPr>
        <p:spPr>
          <a:xfrm>
            <a:off x="1003275" y="2516525"/>
            <a:ext cx="4698882" cy="319866"/>
          </a:xfrm>
          <a:prstGeom prst="rect">
            <a:avLst/>
          </a:prstGeom>
          <a:noFill/>
          <a:ln/>
        </p:spPr>
        <p:txBody>
          <a:bodyPr wrap="square" lIns="1016" tIns="1016" rIns="1016" bIns="1016" rtlCol="0" anchor="t"/>
          <a:lstStyle/>
          <a:p>
            <a:pPr algn="l" indent="0" marL="0">
              <a:lnSpc>
                <a:spcPct val="120000"/>
              </a:lnSpc>
              <a:buNone/>
            </a:pPr>
            <a:r>
              <a:rPr lang="en-US" sz="1900" b="1" dirty="0">
                <a:solidFill>
                  <a:srgbClr val="7C3AED"/>
                </a:solidFill>
                <a:latin typeface="Segoe UI" pitchFamily="34" charset="0"/>
                <a:ea typeface="Segoe UI" pitchFamily="34" charset="-122"/>
                <a:cs typeface="Segoe UI" pitchFamily="34" charset="-120"/>
              </a:rPr>
              <a:t>EU AI Act Compliance
</a:t>
            </a:r>
            <a:endParaRPr lang="en-US" sz="1900" dirty="0"/>
          </a:p>
        </p:txBody>
      </p:sp>
      <p:sp>
        <p:nvSpPr>
          <p:cNvPr id="6" name="Text 4"/>
          <p:cNvSpPr/>
          <p:nvPr/>
        </p:nvSpPr>
        <p:spPr>
          <a:xfrm>
            <a:off x="1257269" y="2988787"/>
            <a:ext cx="4444889" cy="552436"/>
          </a:xfrm>
          <a:prstGeom prst="rect">
            <a:avLst/>
          </a:prstGeom>
          <a:noFill/>
          <a:ln/>
        </p:spPr>
        <p:txBody>
          <a:bodyPr wrap="square" lIns="1016" tIns="1016" rIns="1016" bIns="1016" rtlCol="0" anchor="t"/>
          <a:lstStyle/>
          <a:p>
            <a:pPr algn="l" indent="0" marL="0">
              <a:lnSpc>
                <a:spcPct val="145000"/>
              </a:lnSpc>
              <a:buNone/>
            </a:pPr>
            <a:r>
              <a:rPr lang="en-US" sz="1400" dirty="0">
                <a:solidFill>
                  <a:srgbClr val="0F172A"/>
                </a:solidFill>
                <a:latin typeface="Segoe UI" pitchFamily="34" charset="0"/>
                <a:ea typeface="Segoe UI" pitchFamily="34" charset="-122"/>
                <a:cs typeface="Segoe UI" pitchFamily="34" charset="-120"/>
              </a:rPr>
              <a:t>Assessed as a minimal-risk use case, allowing for streamlined deployment.
</a:t>
            </a:r>
            <a:endParaRPr lang="en-US" sz="1400" dirty="0"/>
          </a:p>
        </p:txBody>
      </p:sp>
      <p:sp>
        <p:nvSpPr>
          <p:cNvPr id="7" name="Text 5"/>
          <p:cNvSpPr/>
          <p:nvPr/>
        </p:nvSpPr>
        <p:spPr>
          <a:xfrm>
            <a:off x="1257269" y="3693620"/>
            <a:ext cx="4444889" cy="552436"/>
          </a:xfrm>
          <a:prstGeom prst="rect">
            <a:avLst/>
          </a:prstGeom>
          <a:noFill/>
          <a:ln/>
        </p:spPr>
        <p:txBody>
          <a:bodyPr wrap="square" lIns="1016" tIns="1016" rIns="1016" bIns="1016" rtlCol="0" anchor="t"/>
          <a:lstStyle/>
          <a:p>
            <a:pPr algn="l" indent="0" marL="0">
              <a:lnSpc>
                <a:spcPct val="145000"/>
              </a:lnSpc>
              <a:buNone/>
            </a:pPr>
            <a:r>
              <a:rPr lang="en-US" sz="1400" dirty="0">
                <a:solidFill>
                  <a:srgbClr val="0F172A"/>
                </a:solidFill>
                <a:latin typeface="Segoe UI" pitchFamily="34" charset="0"/>
                <a:ea typeface="Segoe UI" pitchFamily="34" charset="-122"/>
                <a:cs typeface="Segoe UI" pitchFamily="34" charset="-120"/>
              </a:rPr>
              <a:t>No high-impact decisions involved, reducing regulatory burden.
</a:t>
            </a:r>
            <a:endParaRPr lang="en-US" sz="1400" dirty="0"/>
          </a:p>
        </p:txBody>
      </p:sp>
      <p:sp>
        <p:nvSpPr>
          <p:cNvPr id="8" name="Text 6"/>
          <p:cNvSpPr/>
          <p:nvPr/>
        </p:nvSpPr>
        <p:spPr>
          <a:xfrm>
            <a:off x="1257269" y="4398452"/>
            <a:ext cx="4444889" cy="552436"/>
          </a:xfrm>
          <a:prstGeom prst="rect">
            <a:avLst/>
          </a:prstGeom>
          <a:noFill/>
          <a:ln/>
        </p:spPr>
        <p:txBody>
          <a:bodyPr wrap="square" lIns="1016" tIns="1016" rIns="1016" bIns="1016" rtlCol="0" anchor="t"/>
          <a:lstStyle/>
          <a:p>
            <a:pPr algn="l" indent="0" marL="0">
              <a:lnSpc>
                <a:spcPct val="145000"/>
              </a:lnSpc>
              <a:buNone/>
            </a:pPr>
            <a:r>
              <a:rPr lang="en-US" sz="1400" dirty="0">
                <a:solidFill>
                  <a:srgbClr val="0F172A"/>
                </a:solidFill>
                <a:latin typeface="Segoe UI" pitchFamily="34" charset="0"/>
                <a:ea typeface="Segoe UI" pitchFamily="34" charset="-122"/>
                <a:cs typeface="Segoe UI" pitchFamily="34" charset="-120"/>
              </a:rPr>
              <a:t>Requires ongoing human oversight to ensure compliance with AI decisions.
</a:t>
            </a:r>
            <a:endParaRPr lang="en-US" sz="1400" dirty="0"/>
          </a:p>
        </p:txBody>
      </p:sp>
      <p:sp>
        <p:nvSpPr>
          <p:cNvPr id="9" name="Text 7"/>
          <p:cNvSpPr/>
          <p:nvPr/>
        </p:nvSpPr>
        <p:spPr>
          <a:xfrm>
            <a:off x="6489537" y="2516525"/>
            <a:ext cx="4698882" cy="319866"/>
          </a:xfrm>
          <a:prstGeom prst="rect">
            <a:avLst/>
          </a:prstGeom>
          <a:noFill/>
          <a:ln/>
        </p:spPr>
        <p:txBody>
          <a:bodyPr wrap="square" lIns="1016" tIns="1016" rIns="1016" bIns="1016" rtlCol="0" anchor="t"/>
          <a:lstStyle/>
          <a:p>
            <a:pPr algn="l" indent="0" marL="0">
              <a:lnSpc>
                <a:spcPct val="120000"/>
              </a:lnSpc>
              <a:buNone/>
            </a:pPr>
            <a:r>
              <a:rPr lang="en-US" sz="1900" b="1" dirty="0">
                <a:solidFill>
                  <a:srgbClr val="8B5CF6"/>
                </a:solidFill>
                <a:latin typeface="Segoe UI" pitchFamily="34" charset="0"/>
                <a:ea typeface="Segoe UI" pitchFamily="34" charset="-122"/>
                <a:cs typeface="Segoe UI" pitchFamily="34" charset="-120"/>
              </a:rPr>
              <a:t>GDPR Compliance
</a:t>
            </a:r>
            <a:endParaRPr lang="en-US" sz="1900" dirty="0"/>
          </a:p>
        </p:txBody>
      </p:sp>
      <p:sp>
        <p:nvSpPr>
          <p:cNvPr id="10" name="Text 8"/>
          <p:cNvSpPr/>
          <p:nvPr/>
        </p:nvSpPr>
        <p:spPr>
          <a:xfrm>
            <a:off x="6743531" y="2988787"/>
            <a:ext cx="4444888" cy="552436"/>
          </a:xfrm>
          <a:prstGeom prst="rect">
            <a:avLst/>
          </a:prstGeom>
          <a:noFill/>
          <a:ln/>
        </p:spPr>
        <p:txBody>
          <a:bodyPr wrap="square" lIns="1016" tIns="1016" rIns="1016" bIns="1016" rtlCol="0" anchor="t"/>
          <a:lstStyle/>
          <a:p>
            <a:pPr algn="l" indent="0" marL="0">
              <a:lnSpc>
                <a:spcPct val="145000"/>
              </a:lnSpc>
              <a:buNone/>
            </a:pPr>
            <a:r>
              <a:rPr lang="en-US" sz="1400" dirty="0">
                <a:solidFill>
                  <a:srgbClr val="0F172A"/>
                </a:solidFill>
                <a:latin typeface="Segoe UI" pitchFamily="34" charset="0"/>
                <a:ea typeface="Segoe UI" pitchFamily="34" charset="-122"/>
                <a:cs typeface="Segoe UI" pitchFamily="34" charset="-120"/>
              </a:rPr>
              <a:t>Mandates strict controls on personal data handling, including consent management.
</a:t>
            </a:r>
            <a:endParaRPr lang="en-US" sz="1400" dirty="0"/>
          </a:p>
        </p:txBody>
      </p:sp>
      <p:sp>
        <p:nvSpPr>
          <p:cNvPr id="11" name="Text 9"/>
          <p:cNvSpPr/>
          <p:nvPr/>
        </p:nvSpPr>
        <p:spPr>
          <a:xfrm>
            <a:off x="6743531" y="3693620"/>
            <a:ext cx="4444888" cy="552436"/>
          </a:xfrm>
          <a:prstGeom prst="rect">
            <a:avLst/>
          </a:prstGeom>
          <a:noFill/>
          <a:ln/>
        </p:spPr>
        <p:txBody>
          <a:bodyPr wrap="square" lIns="1016" tIns="1016" rIns="1016" bIns="1016" rtlCol="0" anchor="t"/>
          <a:lstStyle/>
          <a:p>
            <a:pPr algn="l" indent="0" marL="0">
              <a:lnSpc>
                <a:spcPct val="145000"/>
              </a:lnSpc>
              <a:buNone/>
            </a:pPr>
            <a:r>
              <a:rPr lang="en-US" sz="1400" dirty="0">
                <a:solidFill>
                  <a:srgbClr val="0F172A"/>
                </a:solidFill>
                <a:latin typeface="Segoe UI" pitchFamily="34" charset="0"/>
                <a:ea typeface="Segoe UI" pitchFamily="34" charset="-122"/>
                <a:cs typeface="Segoe UI" pitchFamily="34" charset="-120"/>
              </a:rPr>
              <a:t>Emphasizes data minimization and purpose limitation to protect user privacy.
</a:t>
            </a:r>
            <a:endParaRPr lang="en-US" sz="1400" dirty="0"/>
          </a:p>
        </p:txBody>
      </p:sp>
      <p:sp>
        <p:nvSpPr>
          <p:cNvPr id="12" name="Text 10"/>
          <p:cNvSpPr/>
          <p:nvPr/>
        </p:nvSpPr>
        <p:spPr>
          <a:xfrm>
            <a:off x="6743531" y="4398452"/>
            <a:ext cx="4444888" cy="552436"/>
          </a:xfrm>
          <a:prstGeom prst="rect">
            <a:avLst/>
          </a:prstGeom>
          <a:noFill/>
          <a:ln/>
        </p:spPr>
        <p:txBody>
          <a:bodyPr wrap="square" lIns="1016" tIns="1016" rIns="1016" bIns="1016" rtlCol="0" anchor="t"/>
          <a:lstStyle/>
          <a:p>
            <a:pPr algn="l" indent="0" marL="0">
              <a:lnSpc>
                <a:spcPct val="145000"/>
              </a:lnSpc>
              <a:buNone/>
            </a:pPr>
            <a:r>
              <a:rPr lang="en-US" sz="1400" dirty="0">
                <a:solidFill>
                  <a:srgbClr val="0F172A"/>
                </a:solidFill>
                <a:latin typeface="Segoe UI" pitchFamily="34" charset="0"/>
                <a:ea typeface="Segoe UI" pitchFamily="34" charset="-122"/>
                <a:cs typeface="Segoe UI" pitchFamily="34" charset="-120"/>
              </a:rPr>
              <a:t>Requires transparency in data processing and user rights management.
</a:t>
            </a:r>
            <a:endParaRPr lang="en-US" sz="1400" dirty="0"/>
          </a:p>
        </p:txBody>
      </p:sp>
      <p:sp>
        <p:nvSpPr>
          <p:cNvPr id="13" name="Shape 11"/>
          <p:cNvSpPr/>
          <p:nvPr/>
        </p:nvSpPr>
        <p:spPr>
          <a:xfrm>
            <a:off x="1003275" y="3077689"/>
            <a:ext cx="101598" cy="101594"/>
          </a:xfrm>
          <a:prstGeom prst="ellipse">
            <a:avLst/>
          </a:prstGeom>
          <a:solidFill>
            <a:srgbClr val="7C3AED"/>
          </a:solidFill>
          <a:ln/>
        </p:spPr>
      </p:sp>
      <p:sp>
        <p:nvSpPr>
          <p:cNvPr id="14" name="Shape 12"/>
          <p:cNvSpPr/>
          <p:nvPr/>
        </p:nvSpPr>
        <p:spPr>
          <a:xfrm>
            <a:off x="1003275" y="3782521"/>
            <a:ext cx="101598" cy="101594"/>
          </a:xfrm>
          <a:prstGeom prst="ellipse">
            <a:avLst/>
          </a:prstGeom>
          <a:solidFill>
            <a:srgbClr val="7C3AED"/>
          </a:solidFill>
          <a:ln/>
        </p:spPr>
      </p:sp>
      <p:sp>
        <p:nvSpPr>
          <p:cNvPr id="15" name="Shape 13"/>
          <p:cNvSpPr/>
          <p:nvPr/>
        </p:nvSpPr>
        <p:spPr>
          <a:xfrm>
            <a:off x="1003275" y="4487353"/>
            <a:ext cx="101598" cy="101594"/>
          </a:xfrm>
          <a:prstGeom prst="ellipse">
            <a:avLst/>
          </a:prstGeom>
          <a:solidFill>
            <a:srgbClr val="7C3AED"/>
          </a:solidFill>
          <a:ln/>
        </p:spPr>
      </p:sp>
      <p:sp>
        <p:nvSpPr>
          <p:cNvPr id="16" name="Shape 14"/>
          <p:cNvSpPr/>
          <p:nvPr/>
        </p:nvSpPr>
        <p:spPr>
          <a:xfrm>
            <a:off x="6489537" y="3077689"/>
            <a:ext cx="101598" cy="101594"/>
          </a:xfrm>
          <a:prstGeom prst="ellipse">
            <a:avLst/>
          </a:prstGeom>
          <a:solidFill>
            <a:srgbClr val="8B5CF6"/>
          </a:solidFill>
          <a:ln/>
        </p:spPr>
      </p:sp>
      <p:sp>
        <p:nvSpPr>
          <p:cNvPr id="17" name="Shape 15"/>
          <p:cNvSpPr/>
          <p:nvPr/>
        </p:nvSpPr>
        <p:spPr>
          <a:xfrm>
            <a:off x="6489537" y="3782521"/>
            <a:ext cx="101598" cy="101594"/>
          </a:xfrm>
          <a:prstGeom prst="ellipse">
            <a:avLst/>
          </a:prstGeom>
          <a:solidFill>
            <a:srgbClr val="8B5CF6"/>
          </a:solidFill>
          <a:ln/>
        </p:spPr>
      </p:sp>
      <p:sp>
        <p:nvSpPr>
          <p:cNvPr id="18" name="Shape 16"/>
          <p:cNvSpPr/>
          <p:nvPr/>
        </p:nvSpPr>
        <p:spPr>
          <a:xfrm>
            <a:off x="6489537" y="4487353"/>
            <a:ext cx="101598" cy="101594"/>
          </a:xfrm>
          <a:prstGeom prst="ellipse">
            <a:avLst/>
          </a:prstGeom>
          <a:solidFill>
            <a:srgbClr val="8B5CF6"/>
          </a:solidFill>
          <a:ln/>
        </p:spPr>
      </p:sp>
      <p:sp>
        <p:nvSpPr>
          <p:cNvPr id="19" name="Text 17"/>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DF6EE"/>
        </a:solidFill>
      </p:bgPr>
    </p:bg>
    <p:spTree>
      <p:nvGrpSpPr>
        <p:cNvPr id="1" name=""/>
        <p:cNvGrpSpPr/>
        <p:nvPr/>
      </p:nvGrpSpPr>
      <p:grpSpPr>
        <a:xfrm>
          <a:off x="0" y="0"/>
          <a:ext cx="0" cy="0"/>
          <a:chOff x="0" y="0"/>
          <a:chExt cx="0" cy="0"/>
        </a:xfrm>
      </p:grpSpPr>
      <p:sp>
        <p:nvSpPr>
          <p:cNvPr id="2" name="Text 0"/>
          <p:cNvSpPr/>
          <p:nvPr/>
        </p:nvSpPr>
        <p:spPr>
          <a:xfrm>
            <a:off x="1015975" y="507987"/>
            <a:ext cx="10159746" cy="761981"/>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7C3AED"/>
                </a:solidFill>
                <a:latin typeface="Segoe UI" pitchFamily="34" charset="0"/>
                <a:ea typeface="Segoe UI" pitchFamily="34" charset="-122"/>
                <a:cs typeface="Segoe UI" pitchFamily="34" charset="-120"/>
              </a:rPr>
              <a:t>How to Implement NOVA AI
</a:t>
            </a:r>
            <a:endParaRPr lang="en-US" sz="2900" dirty="0"/>
          </a:p>
        </p:txBody>
      </p:sp>
      <p:sp>
        <p:nvSpPr>
          <p:cNvPr id="3" name="Text 1"/>
          <p:cNvSpPr/>
          <p:nvPr/>
        </p:nvSpPr>
        <p:spPr>
          <a:xfrm>
            <a:off x="1409665" y="1724779"/>
            <a:ext cx="10007349" cy="253990"/>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Conduct a Proof of Concept (POC)
</a:t>
            </a:r>
            <a:endParaRPr lang="en-US" sz="1400" dirty="0"/>
          </a:p>
        </p:txBody>
      </p:sp>
      <p:sp>
        <p:nvSpPr>
          <p:cNvPr id="4" name="Text 2"/>
          <p:cNvSpPr/>
          <p:nvPr/>
        </p:nvSpPr>
        <p:spPr>
          <a:xfrm>
            <a:off x="1409665" y="2029572"/>
            <a:ext cx="10007349" cy="515528"/>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Validate the technology and assumptions behind NOVA AI by developing a POC that demonstrates the AI decision-making process and its integration with the e-commerce platform.
</a:t>
            </a:r>
            <a:endParaRPr lang="en-US" sz="1300" dirty="0"/>
          </a:p>
        </p:txBody>
      </p:sp>
      <p:sp>
        <p:nvSpPr>
          <p:cNvPr id="5" name="Text 3"/>
          <p:cNvSpPr/>
          <p:nvPr/>
        </p:nvSpPr>
        <p:spPr>
          <a:xfrm>
            <a:off x="1409665" y="2799089"/>
            <a:ext cx="10007349" cy="253990"/>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Initiate a 60-Day Pilot
</a:t>
            </a:r>
            <a:endParaRPr lang="en-US" sz="1400" dirty="0"/>
          </a:p>
        </p:txBody>
      </p:sp>
      <p:sp>
        <p:nvSpPr>
          <p:cNvPr id="6" name="Text 4"/>
          <p:cNvSpPr/>
          <p:nvPr/>
        </p:nvSpPr>
        <p:spPr>
          <a:xfrm>
            <a:off x="1409665" y="3103882"/>
            <a:ext cx="10007349" cy="515528"/>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Select a limited traffic segment and partner with Chleo to conduct a controlled pilot. Measure conversion rates and gather data on AI performance through A/B testing.
</a:t>
            </a:r>
            <a:endParaRPr lang="en-US" sz="1300" dirty="0"/>
          </a:p>
        </p:txBody>
      </p:sp>
      <p:sp>
        <p:nvSpPr>
          <p:cNvPr id="7" name="Text 5"/>
          <p:cNvSpPr/>
          <p:nvPr/>
        </p:nvSpPr>
        <p:spPr>
          <a:xfrm>
            <a:off x="1409665" y="3873400"/>
            <a:ext cx="10007349" cy="254001"/>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Monitor and Optimize
</a:t>
            </a:r>
            <a:endParaRPr lang="en-US" sz="1400" dirty="0"/>
          </a:p>
        </p:txBody>
      </p:sp>
      <p:sp>
        <p:nvSpPr>
          <p:cNvPr id="8" name="Text 6"/>
          <p:cNvSpPr/>
          <p:nvPr/>
        </p:nvSpPr>
        <p:spPr>
          <a:xfrm>
            <a:off x="1409665" y="4178192"/>
            <a:ext cx="10007349" cy="515528"/>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During the pilot, continuously monitor the AI's performance, customer experience, and compliance with regulations. Use insights gained to optimize the system before full deployment.
</a:t>
            </a:r>
            <a:endParaRPr lang="en-US" sz="1300" dirty="0"/>
          </a:p>
        </p:txBody>
      </p:sp>
      <p:sp>
        <p:nvSpPr>
          <p:cNvPr id="9" name="Text 7"/>
          <p:cNvSpPr/>
          <p:nvPr/>
        </p:nvSpPr>
        <p:spPr>
          <a:xfrm>
            <a:off x="1409665" y="4947720"/>
            <a:ext cx="10007349" cy="253990"/>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Prepare for Full Deployment
</a:t>
            </a:r>
            <a:endParaRPr lang="en-US" sz="1400" dirty="0"/>
          </a:p>
        </p:txBody>
      </p:sp>
      <p:sp>
        <p:nvSpPr>
          <p:cNvPr id="10" name="Text 8"/>
          <p:cNvSpPr/>
          <p:nvPr/>
        </p:nvSpPr>
        <p:spPr>
          <a:xfrm>
            <a:off x="1409665" y="5252513"/>
            <a:ext cx="10007349" cy="515528"/>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If the pilot meets predefined KPIs, plan for full deployment by integrating NOVA AI with existing systems, ensuring compliance, and establishing ongoing support and governance.
</a:t>
            </a:r>
            <a:endParaRPr lang="en-US" sz="1300" dirty="0"/>
          </a:p>
        </p:txBody>
      </p:sp>
      <p:sp>
        <p:nvSpPr>
          <p:cNvPr id="11" name="Shape 9"/>
          <p:cNvSpPr/>
          <p:nvPr/>
        </p:nvSpPr>
        <p:spPr>
          <a:xfrm>
            <a:off x="761981" y="1712076"/>
            <a:ext cx="431789" cy="431793"/>
          </a:xfrm>
          <a:prstGeom prst="ellipse">
            <a:avLst/>
          </a:prstGeom>
          <a:solidFill>
            <a:srgbClr val="7C3AED"/>
          </a:solidFill>
          <a:ln/>
        </p:spPr>
      </p:sp>
      <p:sp>
        <p:nvSpPr>
          <p:cNvPr id="12" name="Text 10"/>
          <p:cNvSpPr/>
          <p:nvPr/>
        </p:nvSpPr>
        <p:spPr>
          <a:xfrm>
            <a:off x="761981" y="1712076"/>
            <a:ext cx="431789" cy="431793"/>
          </a:xfrm>
          <a:prstGeom prst="rect">
            <a:avLst/>
          </a:prstGeom>
          <a:noFill/>
          <a:ln/>
        </p:spPr>
        <p:txBody>
          <a:bodyPr wrap="square" lIns="0" tIns="0" rIns="0" bIns="0" rtlCol="0" anchor="t"/>
          <a:lstStyle/>
          <a:p>
            <a:pPr algn="ctr" indent="0" marL="0">
              <a:lnSpc>
                <a:spcPct val="200000"/>
              </a:lnSpc>
              <a:buNone/>
            </a:pPr>
            <a:r>
              <a:rPr lang="en-US" sz="1500" b="1" dirty="0">
                <a:solidFill>
                  <a:srgbClr val="FFFFFF"/>
                </a:solidFill>
                <a:latin typeface="Calibri" pitchFamily="34" charset="0"/>
                <a:ea typeface="Calibri" pitchFamily="34" charset="-122"/>
                <a:cs typeface="Calibri" pitchFamily="34" charset="-120"/>
              </a:rPr>
              <a:t>1
</a:t>
            </a:r>
            <a:endParaRPr lang="en-US" sz="1500" dirty="0"/>
          </a:p>
        </p:txBody>
      </p:sp>
      <p:sp>
        <p:nvSpPr>
          <p:cNvPr id="13" name="Shape 11"/>
          <p:cNvSpPr/>
          <p:nvPr/>
        </p:nvSpPr>
        <p:spPr>
          <a:xfrm>
            <a:off x="761981" y="2786386"/>
            <a:ext cx="431789" cy="431793"/>
          </a:xfrm>
          <a:prstGeom prst="ellipse">
            <a:avLst/>
          </a:prstGeom>
          <a:solidFill>
            <a:srgbClr val="7C3AED"/>
          </a:solidFill>
          <a:ln/>
        </p:spPr>
      </p:sp>
      <p:sp>
        <p:nvSpPr>
          <p:cNvPr id="14" name="Text 12"/>
          <p:cNvSpPr/>
          <p:nvPr/>
        </p:nvSpPr>
        <p:spPr>
          <a:xfrm>
            <a:off x="761981" y="2786386"/>
            <a:ext cx="431789" cy="431793"/>
          </a:xfrm>
          <a:prstGeom prst="rect">
            <a:avLst/>
          </a:prstGeom>
          <a:noFill/>
          <a:ln/>
        </p:spPr>
        <p:txBody>
          <a:bodyPr wrap="square" lIns="0" tIns="0" rIns="0" bIns="0" rtlCol="0" anchor="t"/>
          <a:lstStyle/>
          <a:p>
            <a:pPr algn="ctr" indent="0" marL="0">
              <a:lnSpc>
                <a:spcPct val="200000"/>
              </a:lnSpc>
              <a:buNone/>
            </a:pPr>
            <a:r>
              <a:rPr lang="en-US" sz="1500" b="1" dirty="0">
                <a:solidFill>
                  <a:srgbClr val="FFFFFF"/>
                </a:solidFill>
                <a:latin typeface="Calibri" pitchFamily="34" charset="0"/>
                <a:ea typeface="Calibri" pitchFamily="34" charset="-122"/>
                <a:cs typeface="Calibri" pitchFamily="34" charset="-120"/>
              </a:rPr>
              <a:t>2
</a:t>
            </a:r>
            <a:endParaRPr lang="en-US" sz="1500" dirty="0"/>
          </a:p>
        </p:txBody>
      </p:sp>
      <p:sp>
        <p:nvSpPr>
          <p:cNvPr id="15" name="Shape 13"/>
          <p:cNvSpPr/>
          <p:nvPr/>
        </p:nvSpPr>
        <p:spPr>
          <a:xfrm>
            <a:off x="761981" y="3860707"/>
            <a:ext cx="431789" cy="431782"/>
          </a:xfrm>
          <a:prstGeom prst="ellipse">
            <a:avLst/>
          </a:prstGeom>
          <a:solidFill>
            <a:srgbClr val="7C3AED"/>
          </a:solidFill>
          <a:ln/>
        </p:spPr>
      </p:sp>
      <p:sp>
        <p:nvSpPr>
          <p:cNvPr id="16" name="Text 14"/>
          <p:cNvSpPr/>
          <p:nvPr/>
        </p:nvSpPr>
        <p:spPr>
          <a:xfrm>
            <a:off x="761981" y="3860707"/>
            <a:ext cx="431789" cy="431782"/>
          </a:xfrm>
          <a:prstGeom prst="rect">
            <a:avLst/>
          </a:prstGeom>
          <a:noFill/>
          <a:ln/>
        </p:spPr>
        <p:txBody>
          <a:bodyPr wrap="square" lIns="0" tIns="0" rIns="0" bIns="0" rtlCol="0" anchor="t"/>
          <a:lstStyle/>
          <a:p>
            <a:pPr algn="ctr" indent="0" marL="0">
              <a:lnSpc>
                <a:spcPct val="200000"/>
              </a:lnSpc>
              <a:buNone/>
            </a:pPr>
            <a:r>
              <a:rPr lang="en-US" sz="1500" b="1" dirty="0">
                <a:solidFill>
                  <a:srgbClr val="FFFFFF"/>
                </a:solidFill>
                <a:latin typeface="Calibri" pitchFamily="34" charset="0"/>
                <a:ea typeface="Calibri" pitchFamily="34" charset="-122"/>
                <a:cs typeface="Calibri" pitchFamily="34" charset="-120"/>
              </a:rPr>
              <a:t>3
</a:t>
            </a:r>
            <a:endParaRPr lang="en-US" sz="1500" dirty="0"/>
          </a:p>
        </p:txBody>
      </p:sp>
      <p:sp>
        <p:nvSpPr>
          <p:cNvPr id="17" name="Shape 15"/>
          <p:cNvSpPr/>
          <p:nvPr/>
        </p:nvSpPr>
        <p:spPr>
          <a:xfrm>
            <a:off x="761981" y="4935017"/>
            <a:ext cx="431789" cy="431793"/>
          </a:xfrm>
          <a:prstGeom prst="ellipse">
            <a:avLst/>
          </a:prstGeom>
          <a:solidFill>
            <a:srgbClr val="7C3AED"/>
          </a:solidFill>
          <a:ln/>
        </p:spPr>
      </p:sp>
      <p:sp>
        <p:nvSpPr>
          <p:cNvPr id="18" name="Text 16"/>
          <p:cNvSpPr/>
          <p:nvPr/>
        </p:nvSpPr>
        <p:spPr>
          <a:xfrm>
            <a:off x="761981" y="4935017"/>
            <a:ext cx="431789" cy="431793"/>
          </a:xfrm>
          <a:prstGeom prst="rect">
            <a:avLst/>
          </a:prstGeom>
          <a:noFill/>
          <a:ln/>
        </p:spPr>
        <p:txBody>
          <a:bodyPr wrap="square" lIns="0" tIns="0" rIns="0" bIns="0" rtlCol="0" anchor="t"/>
          <a:lstStyle/>
          <a:p>
            <a:pPr algn="ctr" indent="0" marL="0">
              <a:lnSpc>
                <a:spcPct val="200000"/>
              </a:lnSpc>
              <a:buNone/>
            </a:pPr>
            <a:r>
              <a:rPr lang="en-US" sz="1500" b="1" dirty="0">
                <a:solidFill>
                  <a:srgbClr val="FFFFFF"/>
                </a:solidFill>
                <a:latin typeface="Calibri" pitchFamily="34" charset="0"/>
                <a:ea typeface="Calibri" pitchFamily="34" charset="-122"/>
                <a:cs typeface="Calibri" pitchFamily="34" charset="-120"/>
              </a:rPr>
              <a:t>4
</a:t>
            </a:r>
            <a:endParaRPr lang="en-US" sz="1500" dirty="0"/>
          </a:p>
        </p:txBody>
      </p:sp>
      <p:sp>
        <p:nvSpPr>
          <p:cNvPr id="19" name="Text 17"/>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DF6EE"/>
        </a:solidFill>
      </p:bgPr>
    </p:bg>
    <p:spTree>
      <p:nvGrpSpPr>
        <p:cNvPr id="1" name=""/>
        <p:cNvGrpSpPr/>
        <p:nvPr/>
      </p:nvGrpSpPr>
      <p:grpSpPr>
        <a:xfrm>
          <a:off x="0" y="0"/>
          <a:ext cx="0" cy="0"/>
          <a:chOff x="0" y="0"/>
          <a:chExt cx="0" cy="0"/>
        </a:xfrm>
      </p:grpSpPr>
      <p:sp>
        <p:nvSpPr>
          <p:cNvPr id="2" name="Shape 0"/>
          <p:cNvSpPr/>
          <p:nvPr/>
        </p:nvSpPr>
        <p:spPr>
          <a:xfrm>
            <a:off x="1346166" y="2277811"/>
            <a:ext cx="2963193" cy="2784802"/>
          </a:xfrm>
          <a:prstGeom prst="roundRect">
            <a:avLst>
              <a:gd name="adj" fmla="val 7297"/>
            </a:avLst>
          </a:prstGeom>
          <a:solidFill>
            <a:srgbClr val="7C3AED">
              <a:alpha val="5000"/>
            </a:srgbClr>
          </a:solidFill>
          <a:ln w="12700">
            <a:solidFill>
              <a:srgbClr val="7C3AED">
                <a:alpha val="15000"/>
              </a:srgbClr>
            </a:solidFill>
            <a:prstDash val="solid"/>
          </a:ln>
        </p:spPr>
      </p:sp>
      <p:sp>
        <p:nvSpPr>
          <p:cNvPr id="3" name="Shape 1"/>
          <p:cNvSpPr/>
          <p:nvPr/>
        </p:nvSpPr>
        <p:spPr>
          <a:xfrm>
            <a:off x="4614152" y="2277811"/>
            <a:ext cx="2963392" cy="2784802"/>
          </a:xfrm>
          <a:prstGeom prst="roundRect">
            <a:avLst>
              <a:gd name="adj" fmla="val 7297"/>
            </a:avLst>
          </a:prstGeom>
          <a:solidFill>
            <a:srgbClr val="8B5CF6">
              <a:alpha val="5000"/>
            </a:srgbClr>
          </a:solidFill>
          <a:ln w="12700">
            <a:solidFill>
              <a:srgbClr val="8B5CF6">
                <a:alpha val="15000"/>
              </a:srgbClr>
            </a:solidFill>
            <a:prstDash val="solid"/>
          </a:ln>
        </p:spPr>
      </p:sp>
      <p:sp>
        <p:nvSpPr>
          <p:cNvPr id="4" name="Shape 2"/>
          <p:cNvSpPr/>
          <p:nvPr/>
        </p:nvSpPr>
        <p:spPr>
          <a:xfrm>
            <a:off x="7882336" y="2277811"/>
            <a:ext cx="2963192" cy="2784802"/>
          </a:xfrm>
          <a:prstGeom prst="roundRect">
            <a:avLst>
              <a:gd name="adj" fmla="val 7297"/>
            </a:avLst>
          </a:prstGeom>
          <a:solidFill>
            <a:srgbClr val="7C3AED">
              <a:alpha val="5000"/>
            </a:srgbClr>
          </a:solidFill>
          <a:ln w="12700">
            <a:solidFill>
              <a:srgbClr val="7C3AED">
                <a:alpha val="15000"/>
              </a:srgbClr>
            </a:solidFill>
            <a:prstDash val="solid"/>
          </a:ln>
        </p:spPr>
      </p:sp>
      <p:sp>
        <p:nvSpPr>
          <p:cNvPr id="5" name="Text 3"/>
          <p:cNvSpPr/>
          <p:nvPr/>
        </p:nvSpPr>
        <p:spPr>
          <a:xfrm>
            <a:off x="1015975" y="507987"/>
            <a:ext cx="10159746" cy="761981"/>
          </a:xfrm>
          <a:prstGeom prst="rect">
            <a:avLst/>
          </a:prstGeom>
          <a:noFill/>
          <a:ln/>
        </p:spPr>
        <p:txBody>
          <a:bodyPr wrap="square" lIns="1016" tIns="1016" rIns="1016" bIns="1016" rtlCol="0" anchor="t"/>
          <a:lstStyle/>
          <a:p>
            <a:pPr algn="l" indent="0" marL="0">
              <a:lnSpc>
                <a:spcPct val="130000"/>
              </a:lnSpc>
              <a:buNone/>
            </a:pPr>
            <a:r>
              <a:rPr lang="en-US" sz="2900" dirty="0">
                <a:solidFill>
                  <a:srgbClr val="7C3AED"/>
                </a:solidFill>
                <a:latin typeface="Segoe UI" pitchFamily="34" charset="0"/>
                <a:ea typeface="Segoe UI" pitchFamily="34" charset="-122"/>
                <a:cs typeface="Segoe UI" pitchFamily="34" charset="-120"/>
              </a:rPr>
              <a:t>Transformative Impact on E-commerce
</a:t>
            </a:r>
            <a:endParaRPr lang="en-US" sz="2900" dirty="0"/>
          </a:p>
        </p:txBody>
      </p:sp>
      <p:sp>
        <p:nvSpPr>
          <p:cNvPr id="6" name="Text 4"/>
          <p:cNvSpPr/>
          <p:nvPr/>
        </p:nvSpPr>
        <p:spPr>
          <a:xfrm>
            <a:off x="2026790" y="2647884"/>
            <a:ext cx="1601748" cy="754242"/>
          </a:xfrm>
          <a:prstGeom prst="rect">
            <a:avLst/>
          </a:prstGeom>
          <a:noFill/>
          <a:ln/>
        </p:spPr>
        <p:txBody>
          <a:bodyPr wrap="square" lIns="1016" tIns="1016" rIns="1016" bIns="1016" rtlCol="0" anchor="t"/>
          <a:lstStyle/>
          <a:p>
            <a:pPr algn="ctr" indent="0" marL="0">
              <a:lnSpc>
                <a:spcPct val="110000"/>
              </a:lnSpc>
              <a:buNone/>
            </a:pPr>
            <a:r>
              <a:rPr lang="en-US" sz="4900" b="1" dirty="0">
                <a:solidFill>
                  <a:srgbClr val="7C3AED"/>
                </a:solidFill>
                <a:latin typeface="Segoe UI" pitchFamily="34" charset="0"/>
                <a:ea typeface="Segoe UI" pitchFamily="34" charset="-122"/>
                <a:cs typeface="Segoe UI" pitchFamily="34" charset="-120"/>
              </a:rPr>
              <a:t>30%
</a:t>
            </a:r>
            <a:endParaRPr lang="en-US" sz="4900" dirty="0"/>
          </a:p>
        </p:txBody>
      </p:sp>
      <p:sp>
        <p:nvSpPr>
          <p:cNvPr id="7" name="Text 5"/>
          <p:cNvSpPr/>
          <p:nvPr/>
        </p:nvSpPr>
        <p:spPr>
          <a:xfrm>
            <a:off x="1536661" y="3503720"/>
            <a:ext cx="2582203" cy="571486"/>
          </a:xfrm>
          <a:prstGeom prst="rect">
            <a:avLst/>
          </a:prstGeom>
          <a:noFill/>
          <a:ln/>
        </p:spPr>
        <p:txBody>
          <a:bodyPr wrap="square" lIns="1016" tIns="1016" rIns="1016" bIns="1016" rtlCol="0" anchor="t"/>
          <a:lstStyle/>
          <a:p>
            <a:pPr algn="ctr" indent="0" marL="0">
              <a:lnSpc>
                <a:spcPct val="125000"/>
              </a:lnSpc>
              <a:buNone/>
            </a:pPr>
            <a:r>
              <a:rPr lang="en-US" sz="1600" b="1" dirty="0">
                <a:solidFill>
                  <a:srgbClr val="0F172A"/>
                </a:solidFill>
                <a:latin typeface="Segoe UI" pitchFamily="34" charset="0"/>
                <a:ea typeface="Segoe UI" pitchFamily="34" charset="-122"/>
                <a:cs typeface="Segoe UI" pitchFamily="34" charset="-120"/>
              </a:rPr>
              <a:t>Increase in Conversion Rates
</a:t>
            </a:r>
            <a:endParaRPr lang="en-US" sz="1600" dirty="0"/>
          </a:p>
        </p:txBody>
      </p:sp>
      <p:sp>
        <p:nvSpPr>
          <p:cNvPr id="8" name="Text 6"/>
          <p:cNvSpPr/>
          <p:nvPr/>
        </p:nvSpPr>
        <p:spPr>
          <a:xfrm>
            <a:off x="1536661" y="4176810"/>
            <a:ext cx="2582203" cy="515528"/>
          </a:xfrm>
          <a:prstGeom prst="rect">
            <a:avLst/>
          </a:prstGeom>
          <a:noFill/>
          <a:ln/>
        </p:spPr>
        <p:txBody>
          <a:bodyPr wrap="square" lIns="1016" tIns="1016" rIns="1016" bIns="1016" rtlCol="0" anchor="t"/>
          <a:lstStyle/>
          <a:p>
            <a:pPr algn="ctr" indent="0" marL="0">
              <a:lnSpc>
                <a:spcPct val="145000"/>
              </a:lnSpc>
              <a:buNone/>
            </a:pPr>
            <a:r>
              <a:rPr lang="en-US" sz="1300" dirty="0">
                <a:solidFill>
                  <a:srgbClr val="475569"/>
                </a:solidFill>
                <a:latin typeface="Segoe UI" pitchFamily="34" charset="0"/>
                <a:ea typeface="Segoe UI" pitchFamily="34" charset="-122"/>
                <a:cs typeface="Segoe UI" pitchFamily="34" charset="-120"/>
              </a:rPr>
              <a:t>Expected uplift through targeted AI interventions
</a:t>
            </a:r>
            <a:endParaRPr lang="en-US" sz="1300" dirty="0"/>
          </a:p>
        </p:txBody>
      </p:sp>
      <p:sp>
        <p:nvSpPr>
          <p:cNvPr id="9" name="Text 7"/>
          <p:cNvSpPr/>
          <p:nvPr/>
        </p:nvSpPr>
        <p:spPr>
          <a:xfrm>
            <a:off x="5318190" y="2519098"/>
            <a:ext cx="1555116" cy="754242"/>
          </a:xfrm>
          <a:prstGeom prst="rect">
            <a:avLst/>
          </a:prstGeom>
          <a:noFill/>
          <a:ln/>
        </p:spPr>
        <p:txBody>
          <a:bodyPr wrap="square" lIns="1016" tIns="1016" rIns="1016" bIns="1016" rtlCol="0" anchor="t"/>
          <a:lstStyle/>
          <a:p>
            <a:pPr algn="ctr" indent="0" marL="0">
              <a:lnSpc>
                <a:spcPct val="110000"/>
              </a:lnSpc>
              <a:buNone/>
            </a:pPr>
            <a:r>
              <a:rPr lang="en-US" sz="4900" b="1" dirty="0">
                <a:solidFill>
                  <a:srgbClr val="8B5CF6"/>
                </a:solidFill>
                <a:latin typeface="Segoe UI" pitchFamily="34" charset="0"/>
                <a:ea typeface="Segoe UI" pitchFamily="34" charset="-122"/>
                <a:cs typeface="Segoe UI" pitchFamily="34" charset="-120"/>
              </a:rPr>
              <a:t>25%
</a:t>
            </a:r>
            <a:endParaRPr lang="en-US" sz="4900" dirty="0"/>
          </a:p>
        </p:txBody>
      </p:sp>
      <p:sp>
        <p:nvSpPr>
          <p:cNvPr id="10" name="Text 8"/>
          <p:cNvSpPr/>
          <p:nvPr/>
        </p:nvSpPr>
        <p:spPr>
          <a:xfrm>
            <a:off x="4804647" y="3374944"/>
            <a:ext cx="2582401" cy="571486"/>
          </a:xfrm>
          <a:prstGeom prst="rect">
            <a:avLst/>
          </a:prstGeom>
          <a:noFill/>
          <a:ln/>
        </p:spPr>
        <p:txBody>
          <a:bodyPr wrap="square" lIns="1016" tIns="1016" rIns="1016" bIns="1016" rtlCol="0" anchor="t"/>
          <a:lstStyle/>
          <a:p>
            <a:pPr algn="ctr" indent="0" marL="0">
              <a:lnSpc>
                <a:spcPct val="125000"/>
              </a:lnSpc>
              <a:buNone/>
            </a:pPr>
            <a:r>
              <a:rPr lang="en-US" sz="1600" b="1" dirty="0">
                <a:solidFill>
                  <a:srgbClr val="0F172A"/>
                </a:solidFill>
                <a:latin typeface="Segoe UI" pitchFamily="34" charset="0"/>
                <a:ea typeface="Segoe UI" pitchFamily="34" charset="-122"/>
                <a:cs typeface="Segoe UI" pitchFamily="34" charset="-120"/>
              </a:rPr>
              <a:t>Reduction in Cart Abandonment
</a:t>
            </a:r>
            <a:endParaRPr lang="en-US" sz="1600" dirty="0"/>
          </a:p>
        </p:txBody>
      </p:sp>
      <p:sp>
        <p:nvSpPr>
          <p:cNvPr id="11" name="Text 9"/>
          <p:cNvSpPr/>
          <p:nvPr/>
        </p:nvSpPr>
        <p:spPr>
          <a:xfrm>
            <a:off x="4804647" y="4048024"/>
            <a:ext cx="2582401" cy="773292"/>
          </a:xfrm>
          <a:prstGeom prst="rect">
            <a:avLst/>
          </a:prstGeom>
          <a:noFill/>
          <a:ln/>
        </p:spPr>
        <p:txBody>
          <a:bodyPr wrap="square" lIns="1016" tIns="1016" rIns="1016" bIns="1016" rtlCol="0" anchor="t"/>
          <a:lstStyle/>
          <a:p>
            <a:pPr algn="ctr" indent="0" marL="0">
              <a:lnSpc>
                <a:spcPct val="145000"/>
              </a:lnSpc>
              <a:buNone/>
            </a:pPr>
            <a:r>
              <a:rPr lang="en-US" sz="1300" dirty="0">
                <a:solidFill>
                  <a:srgbClr val="475569"/>
                </a:solidFill>
                <a:latin typeface="Segoe UI" pitchFamily="34" charset="0"/>
                <a:ea typeface="Segoe UI" pitchFamily="34" charset="-122"/>
                <a:cs typeface="Segoe UI" pitchFamily="34" charset="-120"/>
              </a:rPr>
              <a:t>Significant decrease with personalized recovery strategies
</a:t>
            </a:r>
            <a:endParaRPr lang="en-US" sz="1300" dirty="0"/>
          </a:p>
        </p:txBody>
      </p:sp>
      <p:sp>
        <p:nvSpPr>
          <p:cNvPr id="12" name="Text 10"/>
          <p:cNvSpPr/>
          <p:nvPr/>
        </p:nvSpPr>
        <p:spPr>
          <a:xfrm>
            <a:off x="8623283" y="2647884"/>
            <a:ext cx="1481100" cy="754242"/>
          </a:xfrm>
          <a:prstGeom prst="rect">
            <a:avLst/>
          </a:prstGeom>
          <a:noFill/>
          <a:ln/>
        </p:spPr>
        <p:txBody>
          <a:bodyPr wrap="square" lIns="1016" tIns="1016" rIns="1016" bIns="1016" rtlCol="0" anchor="t"/>
          <a:lstStyle/>
          <a:p>
            <a:pPr algn="ctr" indent="0" marL="0">
              <a:lnSpc>
                <a:spcPct val="110000"/>
              </a:lnSpc>
              <a:buNone/>
            </a:pPr>
            <a:r>
              <a:rPr lang="en-US" sz="4900" b="1" dirty="0">
                <a:solidFill>
                  <a:srgbClr val="7C3AED"/>
                </a:solidFill>
                <a:latin typeface="Segoe UI" pitchFamily="34" charset="0"/>
                <a:ea typeface="Segoe UI" pitchFamily="34" charset="-122"/>
                <a:cs typeface="Segoe UI" pitchFamily="34" charset="-120"/>
              </a:rPr>
              <a:t>2.5x
</a:t>
            </a:r>
            <a:endParaRPr lang="en-US" sz="4900" dirty="0"/>
          </a:p>
        </p:txBody>
      </p:sp>
      <p:sp>
        <p:nvSpPr>
          <p:cNvPr id="13" name="Text 11"/>
          <p:cNvSpPr/>
          <p:nvPr/>
        </p:nvSpPr>
        <p:spPr>
          <a:xfrm>
            <a:off x="8072831" y="3503720"/>
            <a:ext cx="2582202" cy="571486"/>
          </a:xfrm>
          <a:prstGeom prst="rect">
            <a:avLst/>
          </a:prstGeom>
          <a:noFill/>
          <a:ln/>
        </p:spPr>
        <p:txBody>
          <a:bodyPr wrap="square" lIns="1016" tIns="1016" rIns="1016" bIns="1016" rtlCol="0" anchor="t"/>
          <a:lstStyle/>
          <a:p>
            <a:pPr algn="ctr" indent="0" marL="0">
              <a:lnSpc>
                <a:spcPct val="125000"/>
              </a:lnSpc>
              <a:buNone/>
            </a:pPr>
            <a:r>
              <a:rPr lang="en-US" sz="1600" b="1" dirty="0">
                <a:solidFill>
                  <a:srgbClr val="0F172A"/>
                </a:solidFill>
                <a:latin typeface="Segoe UI" pitchFamily="34" charset="0"/>
                <a:ea typeface="Segoe UI" pitchFamily="34" charset="-122"/>
                <a:cs typeface="Segoe UI" pitchFamily="34" charset="-120"/>
              </a:rPr>
              <a:t>Enhanced Customer Engagement
</a:t>
            </a:r>
            <a:endParaRPr lang="en-US" sz="1600" dirty="0"/>
          </a:p>
        </p:txBody>
      </p:sp>
      <p:sp>
        <p:nvSpPr>
          <p:cNvPr id="14" name="Text 12"/>
          <p:cNvSpPr/>
          <p:nvPr/>
        </p:nvSpPr>
        <p:spPr>
          <a:xfrm>
            <a:off x="8072831" y="4176810"/>
            <a:ext cx="2582202" cy="515528"/>
          </a:xfrm>
          <a:prstGeom prst="rect">
            <a:avLst/>
          </a:prstGeom>
          <a:noFill/>
          <a:ln/>
        </p:spPr>
        <p:txBody>
          <a:bodyPr wrap="square" lIns="1016" tIns="1016" rIns="1016" bIns="1016" rtlCol="0" anchor="t"/>
          <a:lstStyle/>
          <a:p>
            <a:pPr algn="ctr" indent="0" marL="0">
              <a:lnSpc>
                <a:spcPct val="145000"/>
              </a:lnSpc>
              <a:buNone/>
            </a:pPr>
            <a:r>
              <a:rPr lang="en-US" sz="1300" dirty="0">
                <a:solidFill>
                  <a:srgbClr val="475569"/>
                </a:solidFill>
                <a:latin typeface="Segoe UI" pitchFamily="34" charset="0"/>
                <a:ea typeface="Segoe UI" pitchFamily="34" charset="-122"/>
                <a:cs typeface="Segoe UI" pitchFamily="34" charset="-120"/>
              </a:rPr>
              <a:t>Through context-aware, timely interventions
</a:t>
            </a:r>
            <a:endParaRPr lang="en-US" sz="1300" dirty="0"/>
          </a:p>
        </p:txBody>
      </p:sp>
      <p:sp>
        <p:nvSpPr>
          <p:cNvPr id="15" name="Text 13"/>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DF6EE"/>
        </a:solidFill>
      </p:bgPr>
    </p:bg>
    <p:spTree>
      <p:nvGrpSpPr>
        <p:cNvPr id="1" name=""/>
        <p:cNvGrpSpPr/>
        <p:nvPr/>
      </p:nvGrpSpPr>
      <p:grpSpPr>
        <a:xfrm>
          <a:off x="0" y="0"/>
          <a:ext cx="0" cy="0"/>
          <a:chOff x="0" y="0"/>
          <a:chExt cx="0" cy="0"/>
        </a:xfrm>
      </p:grpSpPr>
      <p:sp>
        <p:nvSpPr>
          <p:cNvPr id="2" name="Text 0"/>
          <p:cNvSpPr/>
          <p:nvPr/>
        </p:nvSpPr>
        <p:spPr>
          <a:xfrm>
            <a:off x="1015975" y="507987"/>
            <a:ext cx="10159746" cy="761981"/>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7C3AED"/>
                </a:solidFill>
                <a:latin typeface="Segoe UI" pitchFamily="34" charset="0"/>
                <a:ea typeface="Segoe UI" pitchFamily="34" charset="-122"/>
                <a:cs typeface="Segoe UI" pitchFamily="34" charset="-120"/>
              </a:rPr>
              <a:t>Next Steps
</a:t>
            </a:r>
            <a:endParaRPr lang="en-US" sz="2900" dirty="0"/>
          </a:p>
        </p:txBody>
      </p:sp>
      <p:sp>
        <p:nvSpPr>
          <p:cNvPr id="3" name="Text 1"/>
          <p:cNvSpPr/>
          <p:nvPr/>
        </p:nvSpPr>
        <p:spPr>
          <a:xfrm>
            <a:off x="1435064" y="2236533"/>
            <a:ext cx="9981950" cy="253990"/>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Review POC Findings
</a:t>
            </a:r>
            <a:endParaRPr lang="en-US" sz="1400" dirty="0"/>
          </a:p>
        </p:txBody>
      </p:sp>
      <p:sp>
        <p:nvSpPr>
          <p:cNvPr id="4" name="Text 2"/>
          <p:cNvSpPr/>
          <p:nvPr/>
        </p:nvSpPr>
        <p:spPr>
          <a:xfrm>
            <a:off x="1435064" y="2541326"/>
            <a:ext cx="9981950" cy="515528"/>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Analyze the outcomes from the POC to identify strengths and weaknesses in the AI decision-making process, ensuring alignment with business objectives and user experience goals.
</a:t>
            </a:r>
            <a:endParaRPr lang="en-US" sz="1300" dirty="0"/>
          </a:p>
        </p:txBody>
      </p:sp>
      <p:sp>
        <p:nvSpPr>
          <p:cNvPr id="5" name="Text 3"/>
          <p:cNvSpPr/>
          <p:nvPr/>
        </p:nvSpPr>
        <p:spPr>
          <a:xfrm>
            <a:off x="1435064" y="3336250"/>
            <a:ext cx="9981950" cy="253990"/>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Develop Deployment Plan
</a:t>
            </a:r>
            <a:endParaRPr lang="en-US" sz="1400" dirty="0"/>
          </a:p>
        </p:txBody>
      </p:sp>
      <p:sp>
        <p:nvSpPr>
          <p:cNvPr id="6" name="Text 4"/>
          <p:cNvSpPr/>
          <p:nvPr/>
        </p:nvSpPr>
        <p:spPr>
          <a:xfrm>
            <a:off x="1435064" y="3641042"/>
            <a:ext cx="9981950" cy="515528"/>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Create a comprehensive deployment strategy based on pilot results, including timelines, resource allocation, and integration with existing systems to ensure smooth implementation.
</a:t>
            </a:r>
            <a:endParaRPr lang="en-US" sz="1300" dirty="0"/>
          </a:p>
        </p:txBody>
      </p:sp>
      <p:sp>
        <p:nvSpPr>
          <p:cNvPr id="7" name="Text 5"/>
          <p:cNvSpPr/>
          <p:nvPr/>
        </p:nvSpPr>
        <p:spPr>
          <a:xfrm>
            <a:off x="1435064" y="4435956"/>
            <a:ext cx="9981950" cy="254001"/>
          </a:xfrm>
          <a:prstGeom prst="rect">
            <a:avLst/>
          </a:prstGeom>
          <a:noFill/>
          <a:ln/>
        </p:spPr>
        <p:txBody>
          <a:bodyPr wrap="square" lIns="1016" tIns="1016" rIns="1016" bIns="1016" rtlCol="0" anchor="t"/>
          <a:lstStyle/>
          <a:p>
            <a:pPr indent="0" marL="0">
              <a:lnSpc>
                <a:spcPct val="125000"/>
              </a:lnSpc>
              <a:buNone/>
            </a:pPr>
            <a:r>
              <a:rPr lang="en-US" sz="1400" b="1" dirty="0">
                <a:solidFill>
                  <a:srgbClr val="0F172A"/>
                </a:solidFill>
                <a:latin typeface="Segoe UI" pitchFamily="34" charset="0"/>
                <a:ea typeface="Segoe UI" pitchFamily="34" charset="-122"/>
                <a:cs typeface="Segoe UI" pitchFamily="34" charset="-120"/>
              </a:rPr>
              <a:t>Engage Stakeholders
</a:t>
            </a:r>
            <a:endParaRPr lang="en-US" sz="1400" dirty="0"/>
          </a:p>
        </p:txBody>
      </p:sp>
      <p:sp>
        <p:nvSpPr>
          <p:cNvPr id="8" name="Text 6"/>
          <p:cNvSpPr/>
          <p:nvPr/>
        </p:nvSpPr>
        <p:spPr>
          <a:xfrm>
            <a:off x="1435064" y="4740748"/>
            <a:ext cx="9981950" cy="515528"/>
          </a:xfrm>
          <a:prstGeom prst="rect">
            <a:avLst/>
          </a:prstGeom>
          <a:noFill/>
          <a:ln/>
        </p:spPr>
        <p:txBody>
          <a:bodyPr wrap="square" lIns="1016" tIns="1016" rIns="1016" bIns="1016" rtlCol="0" anchor="t"/>
          <a:lstStyle/>
          <a:p>
            <a:pPr indent="0" marL="0">
              <a:lnSpc>
                <a:spcPct val="145000"/>
              </a:lnSpc>
              <a:buNone/>
            </a:pPr>
            <a:r>
              <a:rPr lang="en-US" sz="1300" dirty="0">
                <a:solidFill>
                  <a:srgbClr val="475569"/>
                </a:solidFill>
                <a:latin typeface="Segoe UI" pitchFamily="34" charset="0"/>
                <a:ea typeface="Segoe UI" pitchFamily="34" charset="-122"/>
                <a:cs typeface="Segoe UI" pitchFamily="34" charset="-120"/>
              </a:rPr>
              <a:t>Involve key stakeholders for feedback and additional funding, ensuring their insights are incorporated into the final deployment strategy to enhance buy-in and support.
</a:t>
            </a:r>
            <a:endParaRPr lang="en-US" sz="1300" dirty="0"/>
          </a:p>
        </p:txBody>
      </p:sp>
      <p:sp>
        <p:nvSpPr>
          <p:cNvPr id="9" name="Shape 7"/>
          <p:cNvSpPr/>
          <p:nvPr/>
        </p:nvSpPr>
        <p:spPr>
          <a:xfrm>
            <a:off x="761981" y="2274632"/>
            <a:ext cx="406390" cy="406386"/>
          </a:xfrm>
          <a:prstGeom prst="ellipse">
            <a:avLst/>
          </a:prstGeom>
          <a:solidFill>
            <a:srgbClr val="7C3AED"/>
          </a:solidFill>
          <a:ln/>
        </p:spPr>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57230" y="2369880"/>
            <a:ext cx="215891" cy="215891"/>
          </a:xfrm>
          <a:prstGeom prst="rect">
            <a:avLst/>
          </a:prstGeom>
        </p:spPr>
      </p:pic>
      <p:sp>
        <p:nvSpPr>
          <p:cNvPr id="11" name="Shape 8"/>
          <p:cNvSpPr/>
          <p:nvPr/>
        </p:nvSpPr>
        <p:spPr>
          <a:xfrm>
            <a:off x="761981" y="3374349"/>
            <a:ext cx="406390" cy="406386"/>
          </a:xfrm>
          <a:prstGeom prst="ellipse">
            <a:avLst/>
          </a:prstGeom>
          <a:solidFill>
            <a:srgbClr val="7C3AED"/>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7230" y="3469596"/>
            <a:ext cx="215891" cy="215891"/>
          </a:xfrm>
          <a:prstGeom prst="rect">
            <a:avLst/>
          </a:prstGeom>
        </p:spPr>
      </p:pic>
      <p:sp>
        <p:nvSpPr>
          <p:cNvPr id="13" name="Shape 9"/>
          <p:cNvSpPr/>
          <p:nvPr/>
        </p:nvSpPr>
        <p:spPr>
          <a:xfrm>
            <a:off x="761981" y="4474055"/>
            <a:ext cx="406390" cy="406397"/>
          </a:xfrm>
          <a:prstGeom prst="ellipse">
            <a:avLst/>
          </a:prstGeom>
          <a:solidFill>
            <a:srgbClr val="8B5CF6"/>
          </a:solidFill>
          <a:ln/>
        </p:spPr>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7229" y="4569306"/>
            <a:ext cx="215894" cy="215894"/>
          </a:xfrm>
          <a:prstGeom prst="rect">
            <a:avLst/>
          </a:prstGeom>
        </p:spPr>
      </p:pic>
      <p:sp>
        <p:nvSpPr>
          <p:cNvPr id="15" name="Text 10"/>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DF6EE"/>
        </a:solidFill>
      </p:bgPr>
    </p:bg>
    <p:spTree>
      <p:nvGrpSpPr>
        <p:cNvPr id="1" name=""/>
        <p:cNvGrpSpPr/>
        <p:nvPr/>
      </p:nvGrpSpPr>
      <p:grpSpPr>
        <a:xfrm>
          <a:off x="0" y="0"/>
          <a:ext cx="0" cy="0"/>
          <a:chOff x="0" y="0"/>
          <a:chExt cx="0" cy="0"/>
        </a:xfrm>
      </p:grpSpPr>
      <p:sp>
        <p:nvSpPr>
          <p:cNvPr id="2" name="Text 0"/>
          <p:cNvSpPr/>
          <p:nvPr/>
        </p:nvSpPr>
        <p:spPr>
          <a:xfrm>
            <a:off x="5089397" y="2098222"/>
            <a:ext cx="2012900" cy="437150"/>
          </a:xfrm>
          <a:prstGeom prst="rect">
            <a:avLst/>
          </a:prstGeom>
          <a:noFill/>
          <a:ln/>
        </p:spPr>
        <p:txBody>
          <a:bodyPr wrap="square" lIns="1016" tIns="1016" rIns="1016" bIns="1016" rtlCol="0" anchor="t"/>
          <a:lstStyle/>
          <a:p>
            <a:pPr algn="ctr" indent="0" marL="0">
              <a:lnSpc>
                <a:spcPct val="118725"/>
              </a:lnSpc>
              <a:buNone/>
            </a:pPr>
            <a:r>
              <a:rPr lang="en-US" sz="2600" b="1" dirty="0">
                <a:solidFill>
                  <a:srgbClr val="0F172A"/>
                </a:solidFill>
                <a:latin typeface="Segoe UI" pitchFamily="34" charset="0"/>
                <a:ea typeface="Segoe UI" pitchFamily="34" charset="-122"/>
                <a:cs typeface="Segoe UI" pitchFamily="34" charset="-120"/>
              </a:rPr>
              <a:t>Conclusion
</a:t>
            </a:r>
            <a:endParaRPr lang="en-US" sz="2600" dirty="0"/>
          </a:p>
        </p:txBody>
      </p:sp>
      <p:sp>
        <p:nvSpPr>
          <p:cNvPr id="3" name="Text 1"/>
          <p:cNvSpPr/>
          <p:nvPr/>
        </p:nvSpPr>
        <p:spPr>
          <a:xfrm>
            <a:off x="1927970" y="3081856"/>
            <a:ext cx="8335754" cy="2312731"/>
          </a:xfrm>
          <a:prstGeom prst="rect">
            <a:avLst/>
          </a:prstGeom>
          <a:noFill/>
          <a:ln/>
        </p:spPr>
        <p:txBody>
          <a:bodyPr wrap="square" lIns="1016" tIns="1016" rIns="1016" bIns="1016" rtlCol="0" anchor="t"/>
          <a:lstStyle/>
          <a:p>
            <a:pPr algn="ctr" indent="0" marL="0">
              <a:lnSpc>
                <a:spcPct val="162588"/>
              </a:lnSpc>
              <a:buNone/>
            </a:pPr>
            <a:r>
              <a:rPr lang="en-US" sz="1400" dirty="0">
                <a:solidFill>
                  <a:srgbClr val="475569"/>
                </a:solidFill>
                <a:latin typeface="Segoe UI" pitchFamily="34" charset="0"/>
                <a:ea typeface="Segoe UI" pitchFamily="34" charset="-122"/>
                <a:cs typeface="Segoe UI" pitchFamily="34" charset="-120"/>
              </a:rPr>
              <a:t>In summary, NOVA AI effectively transforms visitor behavior into actionable insights, enhancing conversion rates through context-aware interventions. The POC and MVP validate the technology's potential, while compliance measures ensure responsible deployment. The next critical step is a 60-day pilot to validate assumptions and refine the approach. If successful, NOVA can significantly elevate e-commerce strategies, driving both revenue and customer satisfaction. Thank you for your attention; I welcome your questions.
</a:t>
            </a:r>
            <a:endParaRPr lang="en-US" sz="1400" dirty="0"/>
          </a:p>
        </p:txBody>
      </p:sp>
      <p:sp>
        <p:nvSpPr>
          <p:cNvPr id="4" name="Shape 2"/>
          <p:cNvSpPr/>
          <p:nvPr/>
        </p:nvSpPr>
        <p:spPr>
          <a:xfrm>
            <a:off x="5755734" y="2778254"/>
            <a:ext cx="680029" cy="60720"/>
          </a:xfrm>
          <a:prstGeom prst="ellipse">
            <a:avLst/>
          </a:prstGeom>
          <a:solidFill>
            <a:srgbClr val="7C3AED"/>
          </a:solidFill>
          <a:ln/>
        </p:spPr>
      </p:sp>
      <p:sp>
        <p:nvSpPr>
          <p:cNvPr id="5" name="Text 3"/>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2026-09-04T07:50:42Z</dcterms:created>
  <dcterms:modified xsi:type="dcterms:W3CDTF">2026-09-04T07:50:42Z</dcterms:modified>
</cp:coreProperties>
</file>
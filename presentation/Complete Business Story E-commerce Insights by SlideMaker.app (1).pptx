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Conversion Rate (%)</c:v>
                </c:pt>
              </c:strCache>
            </c:strRef>
          </c:tx>
          <c:spPr>
            <a:solidFill>
              <a:srgbClr val="7C3AED"/>
            </a:solidFill>
            <a:ln w="25400" cap="flat">
              <a:solidFill>
                <a:srgbClr val="7C3AED"/>
              </a:solidFill>
              <a:prstDash val="solid"/>
              <a:round/>
            </a:ln>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marker>
            <c:symbol val="circle"/>
            <c:size val="6"/>
            <c:spPr>
              <a:solidFill>
                <a:srgbClr val="7C3AED"/>
              </a:solidFill>
              <a:ln w="9525" cap="flat">
                <a:solidFill>
                  <a:srgbClr val="7C3AED"/>
                </a:solidFill>
                <a:prstDash val="solid"/>
                <a:round/>
              </a:ln>
              <a:effectLst/>
            </c:spPr>
          </c:marker>
          <c:cat>
            <c:multiLvlStrRef>
              <c:f>Sheet1!$A$2:$A$5</c:f>
              <c:multiLvlStrCache>
                <c:ptCount val="4"/>
                <c:lvl>
                  <c:pt idx="0">
                    <c:v>February</c:v>
                  </c:pt>
                  <c:pt idx="1">
                    <c:v>March</c:v>
                  </c:pt>
                  <c:pt idx="2">
                    <c:v>November</c:v>
                  </c:pt>
                  <c:pt idx="3">
                    <c:v>December</c:v>
                  </c:pt>
                </c:lvl>
              </c:multiLvlStrCache>
            </c:multiLvlStrRef>
          </c:cat>
          <c:val>
            <c:numRef>
              <c:f>Sheet1!$B$2:$B$5</c:f>
              <c:numCache>
                <c:formatCode>General</c:formatCode>
                <c:ptCount val="4"/>
                <c:pt idx="0">
                  <c:v>5</c:v>
                </c:pt>
                <c:pt idx="1">
                  <c:v>10</c:v>
                </c:pt>
                <c:pt idx="2">
                  <c:v>15.63</c:v>
                </c:pt>
                <c:pt idx="3">
                  <c:v>8</c:v>
                </c:pt>
              </c:numCache>
            </c:numRef>
          </c:val>
          <c:smooth val="0"/>
        </c:ser>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0F17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jpe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jpe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jpe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jpe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jpe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507987" y="5333867"/>
            <a:ext cx="1269968" cy="1269968"/>
          </a:xfrm>
          <a:prstGeom prst="ellipse">
            <a:avLst/>
          </a:prstGeom>
          <a:solidFill>
            <a:srgbClr val="7C3AED">
              <a:alpha val="8000"/>
            </a:srgbClr>
          </a:solidFill>
          <a:ln/>
        </p:spPr>
      </p:sp>
      <p:sp>
        <p:nvSpPr>
          <p:cNvPr id="3" name="Shape 1"/>
          <p:cNvSpPr/>
          <p:nvPr/>
        </p:nvSpPr>
        <p:spPr>
          <a:xfrm>
            <a:off x="10413740" y="507987"/>
            <a:ext cx="1523962" cy="1523962"/>
          </a:xfrm>
          <a:prstGeom prst="ellipse">
            <a:avLst/>
          </a:prstGeom>
          <a:solidFill>
            <a:srgbClr val="E88C6F">
              <a:alpha val="10000"/>
            </a:srgbClr>
          </a:solidFill>
          <a:ln/>
        </p:spPr>
      </p:sp>
      <p:sp>
        <p:nvSpPr>
          <p:cNvPr id="4" name="Shape 2"/>
          <p:cNvSpPr/>
          <p:nvPr/>
        </p:nvSpPr>
        <p:spPr>
          <a:xfrm>
            <a:off x="761981" y="761981"/>
            <a:ext cx="761981" cy="761981"/>
          </a:xfrm>
          <a:prstGeom prst="ellipse">
            <a:avLst/>
          </a:prstGeom>
          <a:solidFill>
            <a:srgbClr val="C74B91">
              <a:alpha val="12000"/>
            </a:srgbClr>
          </a:solidFill>
          <a:ln/>
        </p:spPr>
      </p:sp>
      <p:pic>
        <p:nvPicPr>
          <p:cNvPr id="5" name="Image 0" descr="preencoded.png">    </p:cNvPr>
          <p:cNvPicPr>
            <a:picLocks noChangeAspect="1"/>
          </p:cNvPicPr>
          <p:nvPr/>
        </p:nvPicPr>
        <p:blipFill>
          <a:blip r:embed="rId1"/>
          <a:srcRect l="0" r="0" t="0" b="0"/>
          <a:stretch/>
        </p:blipFill>
        <p:spPr>
          <a:xfrm>
            <a:off x="3555911" y="6730832"/>
            <a:ext cx="5079873" cy="81448"/>
          </a:xfrm>
          <a:prstGeom prst="rect">
            <a:avLst/>
          </a:prstGeom>
        </p:spPr>
      </p:pic>
      <p:sp>
        <p:nvSpPr>
          <p:cNvPr id="6" name="Text 3"/>
          <p:cNvSpPr/>
          <p:nvPr/>
        </p:nvSpPr>
        <p:spPr>
          <a:xfrm>
            <a:off x="1015975" y="1904952"/>
            <a:ext cx="9905752" cy="1523962"/>
          </a:xfrm>
          <a:prstGeom prst="rect">
            <a:avLst/>
          </a:prstGeom>
          <a:noFill/>
          <a:ln/>
        </p:spPr>
        <p:txBody>
          <a:bodyPr wrap="square" lIns="1016" tIns="1016" rIns="1016" bIns="1016" rtlCol="0" anchor="t"/>
          <a:lstStyle/>
          <a:p>
            <a:pPr algn="l" indent="0" marL="0">
              <a:lnSpc>
                <a:spcPct val="130000"/>
              </a:lnSpc>
              <a:buNone/>
            </a:pPr>
            <a:r>
              <a:rPr lang="en-US" sz="4100" b="1" dirty="0">
                <a:solidFill>
                  <a:srgbClr val="7C3AED"/>
                </a:solidFill>
                <a:latin typeface="Segoe UI" pitchFamily="34" charset="0"/>
                <a:ea typeface="Segoe UI" pitchFamily="34" charset="-122"/>
                <a:cs typeface="Segoe UI" pitchFamily="34" charset="-120"/>
              </a:rPr>
              <a:t>Complete Business Story: E-commerce Insights</a:t>
            </a:r>
            <a:pPr algn="l" indent="0" marL="0">
              <a:lnSpc>
                <a:spcPct val="130000"/>
              </a:lnSpc>
              <a:buNone/>
            </a:pPr>
            <a:r>
              <a:rPr lang="en-US" sz="4100" dirty="0">
                <a:solidFill>
                  <a:srgbClr val="7C3AED"/>
                </a:solidFill>
                <a:latin typeface="Segoe UI" pitchFamily="34" charset="0"/>
                <a:ea typeface="Segoe UI" pitchFamily="34" charset="-122"/>
                <a:cs typeface="Segoe UI" pitchFamily="34" charset="-120"/>
              </a:rPr>
              <a:t>
</a:t>
            </a:r>
            <a:endParaRPr lang="en-US" sz="4100" dirty="0"/>
          </a:p>
        </p:txBody>
      </p:sp>
      <p:sp>
        <p:nvSpPr>
          <p:cNvPr id="7" name="Text 4"/>
          <p:cNvSpPr/>
          <p:nvPr/>
        </p:nvSpPr>
        <p:spPr>
          <a:xfrm>
            <a:off x="1015975" y="3733707"/>
            <a:ext cx="8127797" cy="812780"/>
          </a:xfrm>
          <a:prstGeom prst="rect">
            <a:avLst/>
          </a:prstGeom>
          <a:noFill/>
          <a:ln/>
        </p:spPr>
        <p:txBody>
          <a:bodyPr wrap="square" lIns="1016" tIns="1016" rIns="1016" bIns="1016" rtlCol="0" anchor="t"/>
          <a:lstStyle/>
          <a:p>
            <a:pPr algn="l" indent="0" marL="0">
              <a:lnSpc>
                <a:spcPct val="130000"/>
              </a:lnSpc>
              <a:buNone/>
            </a:pPr>
            <a:r>
              <a:rPr lang="en-US" sz="1700" i="1" dirty="0">
                <a:solidFill>
                  <a:srgbClr val="475569"/>
                </a:solidFill>
                <a:latin typeface="Calibri" pitchFamily="34" charset="0"/>
                <a:ea typeface="Calibri" pitchFamily="34" charset="-122"/>
                <a:cs typeface="Calibri" pitchFamily="34" charset="-120"/>
              </a:rPr>
              <a:t>A comprehensive guide for E-commerce Executives, Advanced</a:t>
            </a:r>
            <a:pPr algn="l" indent="0" marL="0">
              <a:lnSpc>
                <a:spcPct val="130000"/>
              </a:lnSpc>
              <a:buNone/>
            </a:pPr>
            <a:r>
              <a:rPr lang="en-US" sz="1700" dirty="0">
                <a:solidFill>
                  <a:srgbClr val="475569"/>
                </a:solidFill>
                <a:latin typeface="Calibri" pitchFamily="34" charset="0"/>
                <a:ea typeface="Calibri" pitchFamily="34" charset="-122"/>
                <a:cs typeface="Calibri" pitchFamily="34" charset="-120"/>
              </a:rPr>
              <a:t>
</a:t>
            </a:r>
            <a:endParaRPr lang="en-US" sz="1700" dirty="0"/>
          </a:p>
        </p:txBody>
      </p:sp>
      <p:sp>
        <p:nvSpPr>
          <p:cNvPr id="8" name="Text 5"/>
          <p:cNvSpPr/>
          <p:nvPr/>
        </p:nvSpPr>
        <p:spPr>
          <a:xfrm>
            <a:off x="1015975" y="6476838"/>
            <a:ext cx="3809905" cy="304792"/>
          </a:xfrm>
          <a:prstGeom prst="rect">
            <a:avLst/>
          </a:prstGeom>
          <a:noFill/>
          <a:ln/>
        </p:spPr>
        <p:txBody>
          <a:bodyPr wrap="square" lIns="1016" tIns="1016" rIns="1016" bIns="1016" rtlCol="0" anchor="t"/>
          <a:lstStyle/>
          <a:p>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Vincent de Paul NZOTEGOUONG</a:t>
            </a:r>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
</a:t>
            </a:r>
            <a:endParaRPr lang="en-US" sz="1400" dirty="0"/>
          </a:p>
        </p:txBody>
      </p:sp>
      <p:sp>
        <p:nvSpPr>
          <p:cNvPr id="9" name="Text 6"/>
          <p:cNvSpPr/>
          <p:nvPr/>
        </p:nvSpPr>
        <p:spPr>
          <a:xfrm>
            <a:off x="1015975" y="6146646"/>
            <a:ext cx="5333867"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475569"/>
                </a:solidFill>
                <a:latin typeface="Calibri" pitchFamily="34" charset="0"/>
                <a:ea typeface="Calibri" pitchFamily="34" charset="-122"/>
                <a:cs typeface="Calibri" pitchFamily="34" charset="-120"/>
              </a:rPr>
              <a:t>Vivatech AI</a:t>
            </a:r>
            <a:pPr algn="l" indent="0" marL="0">
              <a:lnSpc>
                <a:spcPct val="130000"/>
              </a:lnSpc>
              <a:buNone/>
            </a:pPr>
            <a:r>
              <a:rPr lang="en-US" sz="1200" dirty="0">
                <a:solidFill>
                  <a:srgbClr val="475569"/>
                </a:solidFill>
                <a:latin typeface="Calibri" pitchFamily="34" charset="0"/>
                <a:ea typeface="Calibri" pitchFamily="34" charset="-122"/>
                <a:cs typeface="Calibri" pitchFamily="34" charset="-120"/>
              </a:rPr>
              <a:t>
</a:t>
            </a:r>
            <a:endParaRPr lang="en-US" sz="1200" dirty="0"/>
          </a:p>
        </p:txBody>
      </p:sp>
      <p:sp>
        <p:nvSpPr>
          <p:cNvPr id="10" name="Text 7"/>
          <p:cNvSpPr/>
          <p:nvPr/>
        </p:nvSpPr>
        <p:spPr>
          <a:xfrm>
            <a:off x="4952876" y="6502237"/>
            <a:ext cx="3047924"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64748B"/>
                </a:solidFill>
                <a:latin typeface="Calibri" pitchFamily="34" charset="0"/>
                <a:ea typeface="Calibri" pitchFamily="34" charset="-122"/>
                <a:cs typeface="Calibri" pitchFamily="34" charset="-120"/>
              </a:rPr>
              <a:t>September 01, 2026</a:t>
            </a:r>
            <a:pPr algn="l" indent="0" marL="0">
              <a:lnSpc>
                <a:spcPct val="130000"/>
              </a:lnSpc>
              <a:buNone/>
            </a:pPr>
            <a:r>
              <a:rPr lang="en-US" sz="1200" dirty="0">
                <a:solidFill>
                  <a:srgbClr val="64748B"/>
                </a:solidFill>
                <a:latin typeface="Calibri" pitchFamily="34" charset="0"/>
                <a:ea typeface="Calibri" pitchFamily="34" charset="-122"/>
                <a:cs typeface="Calibri" pitchFamily="34" charset="-120"/>
              </a:rPr>
              <a:t>
</a:t>
            </a:r>
            <a:endParaRPr lang="en-US" sz="1200" dirty="0"/>
          </a:p>
        </p:txBody>
      </p:sp>
      <p:pic>
        <p:nvPicPr>
          <p:cNvPr id="11" name="Image 1" descr="preencoded.png">    </p:cNvPr>
          <p:cNvPicPr>
            <a:picLocks noChangeAspect="1"/>
          </p:cNvPicPr>
          <p:nvPr/>
        </p:nvPicPr>
        <p:blipFill>
          <a:blip r:embed="rId2"/>
          <a:srcRect l="0" r="0" t="0" b="0"/>
          <a:stretch/>
        </p:blipFill>
        <p:spPr>
          <a:xfrm>
            <a:off x="0" y="0"/>
            <a:ext cx="12145975" cy="101597"/>
          </a:xfrm>
          <a:prstGeom prst="rect">
            <a:avLst/>
          </a:prstGeom>
        </p:spPr>
      </p:pic>
      <p:sp>
        <p:nvSpPr>
          <p:cNvPr id="12" name="Shape 8"/>
          <p:cNvSpPr/>
          <p:nvPr/>
        </p:nvSpPr>
        <p:spPr>
          <a:xfrm>
            <a:off x="1015975" y="1600160"/>
            <a:ext cx="711182" cy="63498"/>
          </a:xfrm>
          <a:prstGeom prst="rect">
            <a:avLst/>
          </a:prstGeom>
          <a:solidFill>
            <a:srgbClr val="7C3AED"/>
          </a:solidFill>
          <a:ln/>
        </p:spPr>
      </p:sp>
      <p:sp>
        <p:nvSpPr>
          <p:cNvPr id="13"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5486263" cy="6812280"/>
          </a:xfrm>
          <a:prstGeom prst="rect">
            <a:avLst/>
          </a:prstGeom>
        </p:spPr>
      </p:pic>
      <p:sp>
        <p:nvSpPr>
          <p:cNvPr id="3" name="Text 0"/>
          <p:cNvSpPr/>
          <p:nvPr/>
        </p:nvSpPr>
        <p:spPr>
          <a:xfrm>
            <a:off x="6299043" y="1803355"/>
            <a:ext cx="5079873" cy="1790655"/>
          </a:xfrm>
          <a:prstGeom prst="rect">
            <a:avLst/>
          </a:prstGeom>
          <a:noFill/>
          <a:ln/>
        </p:spPr>
        <p:txBody>
          <a:bodyPr wrap="square" lIns="1016" tIns="1016" rIns="1016" bIns="1016" rtlCol="0" anchor="t"/>
          <a:lstStyle/>
          <a:p>
            <a:pPr algn="l" indent="0" marL="0">
              <a:lnSpc>
                <a:spcPct val="120000"/>
              </a:lnSpc>
              <a:buNone/>
            </a:pPr>
            <a:r>
              <a:rPr lang="en-US" sz="3200" b="1" dirty="0">
                <a:solidFill>
                  <a:srgbClr val="7C3AED"/>
                </a:solidFill>
                <a:latin typeface="Segoe UI" pitchFamily="34" charset="0"/>
                <a:ea typeface="Segoe UI" pitchFamily="34" charset="-122"/>
                <a:cs typeface="Segoe UI" pitchFamily="34" charset="-120"/>
              </a:rPr>
              <a:t>Complete Business Story: E-commerce Insights
</a:t>
            </a:r>
            <a:endParaRPr lang="en-US" sz="3200" dirty="0"/>
          </a:p>
        </p:txBody>
      </p:sp>
      <p:sp>
        <p:nvSpPr>
          <p:cNvPr id="4" name="Text 1"/>
          <p:cNvSpPr/>
          <p:nvPr/>
        </p:nvSpPr>
        <p:spPr>
          <a:xfrm>
            <a:off x="6299043" y="3873403"/>
            <a:ext cx="5079873" cy="2095448"/>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This presentation delves into the critical performance metrics of our e-commerce platform, analyzing 12,205 sessions that resulted in 1,908 conversions, yielding a conversion rate of 15.63%. We will explore seasonal trends, traffic quality, and visitor behavior, providing actionable insights to optimize conversion rates. By understanding these dynamics, we can enhance our marketing strategies and improve customer engagement, ultimately driving revenue growth. Join us as we uncover the story behind the numbers.
</a:t>
            </a:r>
            <a:endParaRPr lang="en-US" sz="1300" dirty="0"/>
          </a:p>
        </p:txBody>
      </p:sp>
      <p:sp>
        <p:nvSpPr>
          <p:cNvPr id="5" name="Shape 2"/>
          <p:cNvSpPr/>
          <p:nvPr/>
        </p:nvSpPr>
        <p:spPr>
          <a:xfrm>
            <a:off x="6299043" y="1498563"/>
            <a:ext cx="711182" cy="63498"/>
          </a:xfrm>
          <a:prstGeom prst="rect">
            <a:avLst/>
          </a:prstGeom>
          <a:solidFill>
            <a:srgbClr val="7C3AED"/>
          </a:solidFill>
          <a:ln/>
        </p:spPr>
      </p:sp>
      <p:sp>
        <p:nvSpPr>
          <p:cNvPr id="6"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963794" y="6553036"/>
            <a:ext cx="1151703" cy="228594"/>
          </a:xfrm>
          <a:prstGeom prst="rect">
            <a:avLst/>
          </a:prstGeom>
          <a:solidFill>
            <a:srgbClr val="000000">
              <a:alpha val="60000"/>
            </a:srgbClr>
          </a:solidFill>
          <a:ln/>
        </p:spPr>
      </p:sp>
      <p:sp>
        <p:nvSpPr>
          <p:cNvPr id="3" name="Text 1"/>
          <p:cNvSpPr/>
          <p:nvPr/>
        </p:nvSpPr>
        <p:spPr>
          <a:xfrm>
            <a:off x="609585" y="1855543"/>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Overall Performance Metrics
</a:t>
            </a:r>
            <a:endParaRPr lang="en-US" sz="1400" dirty="0"/>
          </a:p>
        </p:txBody>
      </p:sp>
      <p:sp>
        <p:nvSpPr>
          <p:cNvPr id="4" name="Text 2"/>
          <p:cNvSpPr/>
          <p:nvPr/>
        </p:nvSpPr>
        <p:spPr>
          <a:xfrm>
            <a:off x="609585" y="2160335"/>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Analyzed 12,205 sessions resulting in 1,908 conversions, achieving a conversion rate of 15.63%. This highlights the effectiveness of current strategies and areas for improvement.
</a:t>
            </a:r>
            <a:endParaRPr lang="en-US" sz="1300" dirty="0"/>
          </a:p>
        </p:txBody>
      </p:sp>
      <p:sp>
        <p:nvSpPr>
          <p:cNvPr id="5" name="Text 3"/>
          <p:cNvSpPr/>
          <p:nvPr/>
        </p:nvSpPr>
        <p:spPr>
          <a:xfrm>
            <a:off x="4781430" y="1855543"/>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Seasonal Conversion Trends
</a:t>
            </a:r>
            <a:endParaRPr lang="en-US" sz="1400" dirty="0"/>
          </a:p>
        </p:txBody>
      </p:sp>
      <p:sp>
        <p:nvSpPr>
          <p:cNvPr id="6" name="Text 4"/>
          <p:cNvSpPr/>
          <p:nvPr/>
        </p:nvSpPr>
        <p:spPr>
          <a:xfrm>
            <a:off x="4781430" y="2160335"/>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Conversion rates show a clear seasonal pattern, peaking in November at 15.63% and declining in December. This indicates the need for targeted marketing strategies during peak months.
</a:t>
            </a:r>
            <a:endParaRPr lang="en-US" sz="1300" dirty="0"/>
          </a:p>
        </p:txBody>
      </p:sp>
      <p:sp>
        <p:nvSpPr>
          <p:cNvPr id="7" name="Text 5"/>
          <p:cNvSpPr/>
          <p:nvPr/>
        </p:nvSpPr>
        <p:spPr>
          <a:xfrm>
            <a:off x="609585" y="4287333"/>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Traffic Quality Insights
</a:t>
            </a:r>
            <a:endParaRPr lang="en-US" sz="1400" dirty="0"/>
          </a:p>
        </p:txBody>
      </p:sp>
      <p:sp>
        <p:nvSpPr>
          <p:cNvPr id="8" name="Text 6"/>
          <p:cNvSpPr/>
          <p:nvPr/>
        </p:nvSpPr>
        <p:spPr>
          <a:xfrm>
            <a:off x="609585" y="4592126"/>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Traffic Type 16 achieves a 33% conversion rate, while Type 13 only converts at 5%. This 28-point gap suggests significant differences in traffic source effectiveness.
</a:t>
            </a:r>
            <a:endParaRPr lang="en-US" sz="1300" dirty="0"/>
          </a:p>
        </p:txBody>
      </p:sp>
      <p:sp>
        <p:nvSpPr>
          <p:cNvPr id="9" name="Text 7"/>
          <p:cNvSpPr/>
          <p:nvPr/>
        </p:nvSpPr>
        <p:spPr>
          <a:xfrm>
            <a:off x="4781430" y="4287333"/>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Visitor Behavior Analysis
</a:t>
            </a:r>
            <a:endParaRPr lang="en-US" sz="1400" dirty="0"/>
          </a:p>
        </p:txBody>
      </p:sp>
      <p:sp>
        <p:nvSpPr>
          <p:cNvPr id="10" name="Text 8"/>
          <p:cNvSpPr/>
          <p:nvPr/>
        </p:nvSpPr>
        <p:spPr>
          <a:xfrm>
            <a:off x="4781430" y="4592126"/>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New visitors convert at 24.93%, compared to 14.09% for returning visitors. This discrepancy indicates potential for optimizing engagement strategies for returning users.
</a:t>
            </a:r>
            <a:endParaRPr lang="en-US" sz="1300" dirty="0"/>
          </a:p>
        </p:txBody>
      </p:sp>
      <p:sp>
        <p:nvSpPr>
          <p:cNvPr id="11" name="Text 9"/>
          <p:cNvSpPr/>
          <p:nvPr/>
        </p:nvSpPr>
        <p:spPr>
          <a:xfrm>
            <a:off x="11039992" y="6578435"/>
            <a:ext cx="999307" cy="177795"/>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Shoper
</a:t>
            </a:r>
            <a:endParaRPr lang="en-US" sz="900" dirty="0"/>
          </a:p>
        </p:txBody>
      </p:sp>
      <p:sp>
        <p:nvSpPr>
          <p:cNvPr id="12" name="Text 10"/>
          <p:cNvSpPr/>
          <p:nvPr/>
        </p:nvSpPr>
        <p:spPr>
          <a:xfrm>
            <a:off x="380990" y="799086"/>
            <a:ext cx="8140496" cy="396072"/>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Complete Business Story
</a:t>
            </a:r>
            <a:endParaRPr lang="en-US" sz="230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6885" y="1538050"/>
            <a:ext cx="228594" cy="228594"/>
          </a:xfrm>
          <a:prstGeom prst="rect">
            <a:avLst/>
          </a:prstGeom>
        </p:spPr>
      </p:pic>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8731" y="1538050"/>
            <a:ext cx="228594" cy="228594"/>
          </a:xfrm>
          <a:prstGeom prst="rect">
            <a:avLst/>
          </a:prstGeom>
        </p:spPr>
      </p:pic>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885" y="3969840"/>
            <a:ext cx="228594" cy="228594"/>
          </a:xfrm>
          <a:prstGeom prst="rect">
            <a:avLst/>
          </a:prstGeom>
        </p:spPr>
      </p:pic>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8731" y="3969840"/>
            <a:ext cx="228594" cy="228594"/>
          </a:xfrm>
          <a:prstGeom prst="rect">
            <a:avLst/>
          </a:prstGeom>
        </p:spPr>
      </p:pic>
      <p:pic>
        <p:nvPicPr>
          <p:cNvPr id="17" name="Image 4" descr="preencoded.png">    </p:cNvPr>
          <p:cNvPicPr>
            <a:picLocks noChangeAspect="1"/>
          </p:cNvPicPr>
          <p:nvPr/>
        </p:nvPicPr>
        <p:blipFill>
          <a:blip r:embed="rId9"/>
          <a:srcRect l="0" r="0" t="0" b="0"/>
          <a:stretch/>
        </p:blipFill>
        <p:spPr>
          <a:xfrm>
            <a:off x="8775480" y="0"/>
            <a:ext cx="3370495" cy="6812280"/>
          </a:xfrm>
          <a:prstGeom prst="rect">
            <a:avLst/>
          </a:prstGeom>
        </p:spPr>
      </p:pic>
      <p:sp>
        <p:nvSpPr>
          <p:cNvPr id="18" name="Text 1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Data Overview
</a:t>
            </a:r>
            <a:endParaRPr lang="en-US" sz="2900" dirty="0"/>
          </a:p>
        </p:txBody>
      </p:sp>
      <p:sp>
        <p:nvSpPr>
          <p:cNvPr id="3" name="Text 1"/>
          <p:cNvSpPr/>
          <p:nvPr/>
        </p:nvSpPr>
        <p:spPr>
          <a:xfrm>
            <a:off x="774681" y="2858818"/>
            <a:ext cx="3259453"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Overall Performance Insights
</a:t>
            </a:r>
            <a:endParaRPr lang="en-US" sz="1400" dirty="0"/>
          </a:p>
        </p:txBody>
      </p:sp>
      <p:sp>
        <p:nvSpPr>
          <p:cNvPr id="4" name="Text 2"/>
          <p:cNvSpPr/>
          <p:nvPr/>
        </p:nvSpPr>
        <p:spPr>
          <a:xfrm>
            <a:off x="774681" y="3163611"/>
            <a:ext cx="3259453"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Analyzed data from 12,205 sessions revealed 1,908 conversions, resulting in a conversion rate of 15.63%. This indicates significant performance gaps that warrant further investigation.
</a:t>
            </a:r>
            <a:endParaRPr lang="en-US" sz="1300" dirty="0"/>
          </a:p>
        </p:txBody>
      </p:sp>
      <p:sp>
        <p:nvSpPr>
          <p:cNvPr id="5" name="Text 3"/>
          <p:cNvSpPr/>
          <p:nvPr/>
        </p:nvSpPr>
        <p:spPr>
          <a:xfrm>
            <a:off x="4465923" y="2858818"/>
            <a:ext cx="325965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Traffic Quality Disparities
</a:t>
            </a:r>
            <a:endParaRPr lang="en-US" sz="1400" dirty="0"/>
          </a:p>
        </p:txBody>
      </p:sp>
      <p:sp>
        <p:nvSpPr>
          <p:cNvPr id="6" name="Text 4"/>
          <p:cNvSpPr/>
          <p:nvPr/>
        </p:nvSpPr>
        <p:spPr>
          <a:xfrm>
            <a:off x="4465923" y="3163611"/>
            <a:ext cx="3259651"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Traffic quality varies significantly between sources, with Type 16 achieving a 33% conversion rate compared to Type 13's 5%. This 28-point gap highlights the need for targeted acquisition strategies.
</a:t>
            </a:r>
            <a:endParaRPr lang="en-US" sz="1300" dirty="0"/>
          </a:p>
        </p:txBody>
      </p:sp>
      <p:sp>
        <p:nvSpPr>
          <p:cNvPr id="7" name="Text 5"/>
          <p:cNvSpPr/>
          <p:nvPr/>
        </p:nvSpPr>
        <p:spPr>
          <a:xfrm>
            <a:off x="8157363" y="2858818"/>
            <a:ext cx="3259650"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Visitor Behavior Analysis
</a:t>
            </a:r>
            <a:endParaRPr lang="en-US" sz="1400" dirty="0"/>
          </a:p>
        </p:txBody>
      </p:sp>
      <p:sp>
        <p:nvSpPr>
          <p:cNvPr id="8" name="Text 6"/>
          <p:cNvSpPr/>
          <p:nvPr/>
        </p:nvSpPr>
        <p:spPr>
          <a:xfrm>
            <a:off x="8157363" y="3163611"/>
            <a:ext cx="3259650"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New visitors convert at 24.93%, while returning visitors only achieve 14.09%. This 10.84-point difference suggests potential optimization opportunities for engaging returning customers.
</a:t>
            </a:r>
            <a:endParaRPr lang="en-US" sz="13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1982" y="2439729"/>
            <a:ext cx="279391" cy="279391"/>
          </a:xfrm>
          <a:prstGeom prst="rect">
            <a:avLst/>
          </a:prstGeom>
        </p:spPr>
      </p:pic>
      <p:sp>
        <p:nvSpPr>
          <p:cNvPr id="10" name="Shape 7"/>
          <p:cNvSpPr/>
          <p:nvPr/>
        </p:nvSpPr>
        <p:spPr>
          <a:xfrm>
            <a:off x="761981" y="4976887"/>
            <a:ext cx="3284852" cy="76198"/>
          </a:xfrm>
          <a:prstGeom prst="ellipse">
            <a:avLst/>
          </a:prstGeom>
          <a:solidFill>
            <a:srgbClr val="7C3AE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53224" y="2439729"/>
            <a:ext cx="279391" cy="279391"/>
          </a:xfrm>
          <a:prstGeom prst="rect">
            <a:avLst/>
          </a:prstGeom>
        </p:spPr>
      </p:pic>
      <p:sp>
        <p:nvSpPr>
          <p:cNvPr id="12" name="Shape 8"/>
          <p:cNvSpPr/>
          <p:nvPr/>
        </p:nvSpPr>
        <p:spPr>
          <a:xfrm>
            <a:off x="4453223" y="4976887"/>
            <a:ext cx="3285051" cy="76198"/>
          </a:xfrm>
          <a:prstGeom prst="ellipse">
            <a:avLst/>
          </a:prstGeom>
          <a:solidFill>
            <a:srgbClr val="8B5CF6"/>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44664" y="2439729"/>
            <a:ext cx="279391" cy="279391"/>
          </a:xfrm>
          <a:prstGeom prst="rect">
            <a:avLst/>
          </a:prstGeom>
        </p:spPr>
      </p:pic>
      <p:sp>
        <p:nvSpPr>
          <p:cNvPr id="14" name="Shape 9"/>
          <p:cNvSpPr/>
          <p:nvPr/>
        </p:nvSpPr>
        <p:spPr>
          <a:xfrm>
            <a:off x="8144663" y="4976887"/>
            <a:ext cx="3285051" cy="76198"/>
          </a:xfrm>
          <a:prstGeom prst="ellipse">
            <a:avLst/>
          </a:prstGeom>
          <a:solidFill>
            <a:srgbClr val="7C3AED"/>
          </a:solidFill>
          <a:ln/>
        </p:spPr>
      </p:sp>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Seasonal Conversion Trends
</a:t>
            </a:r>
            <a:endParaRPr lang="en-US" sz="2900" dirty="0"/>
          </a:p>
        </p:txBody>
      </p:sp>
      <p:graphicFrame>
        <p:nvGraphicFramePr>
          <p:cNvPr id="3" name="Chart 0" descr=""/>
          <p:cNvGraphicFramePr/>
          <p:nvPr/>
        </p:nvGraphicFramePr>
        <p:xfrm>
          <a:off x="1015975" y="1777956"/>
          <a:ext cx="10159746" cy="4063898"/>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289617" y="6553036"/>
            <a:ext cx="2539937" cy="228594"/>
          </a:xfrm>
          <a:prstGeom prst="rect">
            <a:avLst/>
          </a:prstGeom>
          <a:solidFill>
            <a:srgbClr val="000000">
              <a:alpha val="60000"/>
            </a:srgbClr>
          </a:solidFill>
          <a:ln/>
        </p:spPr>
      </p:sp>
      <p:sp>
        <p:nvSpPr>
          <p:cNvPr id="3" name="Text 1"/>
          <p:cNvSpPr/>
          <p:nvPr/>
        </p:nvSpPr>
        <p:spPr>
          <a:xfrm>
            <a:off x="1282668" y="1783710"/>
            <a:ext cx="5410065"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High Intent Traffic Type 16
</a:t>
            </a:r>
            <a:endParaRPr lang="en-US" sz="1400" dirty="0"/>
          </a:p>
        </p:txBody>
      </p:sp>
      <p:sp>
        <p:nvSpPr>
          <p:cNvPr id="4" name="Text 2"/>
          <p:cNvSpPr/>
          <p:nvPr/>
        </p:nvSpPr>
        <p:spPr>
          <a:xfrm>
            <a:off x="1282668" y="2088502"/>
            <a:ext cx="5410065" cy="103105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Traffic Type 16 achieves a remarkable 33% conversion rate, indicating high visitor intent and engagement. This suggests a strong alignment between traffic source and customer purchasing behavior.
</a:t>
            </a:r>
            <a:endParaRPr lang="en-US" sz="1300" dirty="0"/>
          </a:p>
        </p:txBody>
      </p:sp>
      <p:sp>
        <p:nvSpPr>
          <p:cNvPr id="5" name="Text 3"/>
          <p:cNvSpPr/>
          <p:nvPr/>
        </p:nvSpPr>
        <p:spPr>
          <a:xfrm>
            <a:off x="1282668" y="3348152"/>
            <a:ext cx="5410065"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Low Performance Traffic Type 13
</a:t>
            </a:r>
            <a:endParaRPr lang="en-US" sz="1400" dirty="0"/>
          </a:p>
        </p:txBody>
      </p:sp>
      <p:sp>
        <p:nvSpPr>
          <p:cNvPr id="6" name="Text 4"/>
          <p:cNvSpPr/>
          <p:nvPr/>
        </p:nvSpPr>
        <p:spPr>
          <a:xfrm>
            <a:off x="1282668" y="3652944"/>
            <a:ext cx="5410065" cy="773292"/>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In stark contrast, Traffic Type 13 only converts at 5%. This significant disparity underscores the necessity to refine traffic acquisition strategies to enhance overall conversion rates.
</a:t>
            </a:r>
            <a:endParaRPr lang="en-US" sz="1300" dirty="0"/>
          </a:p>
        </p:txBody>
      </p:sp>
      <p:sp>
        <p:nvSpPr>
          <p:cNvPr id="7" name="Text 5"/>
          <p:cNvSpPr/>
          <p:nvPr/>
        </p:nvSpPr>
        <p:spPr>
          <a:xfrm>
            <a:off x="1282668" y="4654830"/>
            <a:ext cx="5410065"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Optimize Acquisition Strategies
</a:t>
            </a:r>
            <a:endParaRPr lang="en-US" sz="1400" dirty="0"/>
          </a:p>
        </p:txBody>
      </p:sp>
      <p:sp>
        <p:nvSpPr>
          <p:cNvPr id="8" name="Text 6"/>
          <p:cNvSpPr/>
          <p:nvPr/>
        </p:nvSpPr>
        <p:spPr>
          <a:xfrm>
            <a:off x="1282668" y="4959622"/>
            <a:ext cx="5410065" cy="103105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Investigating the characteristics of Traffic Type 16 can provide insights into effective acquisition strategies. Leveraging these insights may drive improved conversion rates across all traffic sources.
</a:t>
            </a:r>
            <a:endParaRPr lang="en-US" sz="1300" dirty="0"/>
          </a:p>
        </p:txBody>
      </p:sp>
      <p:sp>
        <p:nvSpPr>
          <p:cNvPr id="9" name="Text 7"/>
          <p:cNvSpPr/>
          <p:nvPr/>
        </p:nvSpPr>
        <p:spPr>
          <a:xfrm>
            <a:off x="7365815" y="6578435"/>
            <a:ext cx="2387541" cy="177796"/>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Stephen Phillips - Hostreviews.co.uk
</a:t>
            </a:r>
            <a:endParaRPr lang="en-US" sz="900" dirty="0"/>
          </a:p>
        </p:txBody>
      </p:sp>
      <p:sp>
        <p:nvSpPr>
          <p:cNvPr id="10" name="Text 8"/>
          <p:cNvSpPr/>
          <p:nvPr/>
        </p:nvSpPr>
        <p:spPr>
          <a:xfrm>
            <a:off x="711182" y="854252"/>
            <a:ext cx="5994250" cy="396071"/>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Traffic Quality Analysis
</a:t>
            </a:r>
            <a:endParaRPr lang="en-US" sz="2300" dirty="0"/>
          </a:p>
        </p:txBody>
      </p:sp>
      <p:sp>
        <p:nvSpPr>
          <p:cNvPr id="11" name="Shape 9"/>
          <p:cNvSpPr/>
          <p:nvPr/>
        </p:nvSpPr>
        <p:spPr>
          <a:xfrm>
            <a:off x="711182" y="1478917"/>
            <a:ext cx="660384" cy="63499"/>
          </a:xfrm>
          <a:prstGeom prst="ellipse">
            <a:avLst/>
          </a:prstGeom>
          <a:solidFill>
            <a:srgbClr val="7C3AED"/>
          </a:solidFill>
          <a:ln/>
        </p:spPr>
      </p:sp>
      <p:sp>
        <p:nvSpPr>
          <p:cNvPr id="12" name="Shape 10"/>
          <p:cNvSpPr/>
          <p:nvPr/>
        </p:nvSpPr>
        <p:spPr>
          <a:xfrm>
            <a:off x="711182" y="1783710"/>
            <a:ext cx="380990" cy="380990"/>
          </a:xfrm>
          <a:prstGeom prst="ellipse">
            <a:avLst/>
          </a:prstGeom>
          <a:solidFill>
            <a:srgbClr val="7C3AED">
              <a:alpha val="12000"/>
            </a:srgbClr>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0080" y="1872608"/>
            <a:ext cx="203194" cy="203194"/>
          </a:xfrm>
          <a:prstGeom prst="rect">
            <a:avLst/>
          </a:prstGeom>
        </p:spPr>
      </p:pic>
      <p:sp>
        <p:nvSpPr>
          <p:cNvPr id="14" name="Shape 11"/>
          <p:cNvSpPr/>
          <p:nvPr/>
        </p:nvSpPr>
        <p:spPr>
          <a:xfrm>
            <a:off x="711182" y="3348152"/>
            <a:ext cx="380990" cy="380990"/>
          </a:xfrm>
          <a:prstGeom prst="ellipse">
            <a:avLst/>
          </a:prstGeom>
          <a:solidFill>
            <a:srgbClr val="7C3AED">
              <a:alpha val="12000"/>
            </a:srgbClr>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080" y="3437050"/>
            <a:ext cx="203195" cy="203195"/>
          </a:xfrm>
          <a:prstGeom prst="rect">
            <a:avLst/>
          </a:prstGeom>
        </p:spPr>
      </p:pic>
      <p:sp>
        <p:nvSpPr>
          <p:cNvPr id="16" name="Shape 12"/>
          <p:cNvSpPr/>
          <p:nvPr/>
        </p:nvSpPr>
        <p:spPr>
          <a:xfrm>
            <a:off x="711182" y="4654830"/>
            <a:ext cx="380990" cy="380990"/>
          </a:xfrm>
          <a:prstGeom prst="ellipse">
            <a:avLst/>
          </a:prstGeom>
          <a:solidFill>
            <a:srgbClr val="7C3AED">
              <a:alpha val="12000"/>
            </a:srgbClr>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080" y="4743728"/>
            <a:ext cx="203195" cy="203195"/>
          </a:xfrm>
          <a:prstGeom prst="rect">
            <a:avLst/>
          </a:prstGeom>
        </p:spPr>
      </p:pic>
      <p:sp>
        <p:nvSpPr>
          <p:cNvPr id="18" name="Shape 13"/>
          <p:cNvSpPr/>
          <p:nvPr/>
        </p:nvSpPr>
        <p:spPr>
          <a:xfrm>
            <a:off x="7137221" y="0"/>
            <a:ext cx="76198" cy="6812280"/>
          </a:xfrm>
          <a:prstGeom prst="rect">
            <a:avLst/>
          </a:prstGeom>
          <a:solidFill>
            <a:srgbClr val="7C3AED"/>
          </a:solidFill>
          <a:ln/>
        </p:spPr>
      </p:sp>
      <p:pic>
        <p:nvPicPr>
          <p:cNvPr id="19" name="Image 3" descr="preencoded.png">    </p:cNvPr>
          <p:cNvPicPr>
            <a:picLocks noChangeAspect="1"/>
          </p:cNvPicPr>
          <p:nvPr/>
        </p:nvPicPr>
        <p:blipFill>
          <a:blip r:embed="rId7"/>
          <a:srcRect l="0" r="0" t="0" b="0"/>
          <a:stretch/>
        </p:blipFill>
        <p:spPr>
          <a:xfrm>
            <a:off x="7213419" y="0"/>
            <a:ext cx="4932556" cy="6812280"/>
          </a:xfrm>
          <a:prstGeom prst="rect">
            <a:avLst/>
          </a:prstGeom>
        </p:spPr>
      </p:pic>
      <p:sp>
        <p:nvSpPr>
          <p:cNvPr id="20" name="Text 1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289617" y="6553036"/>
            <a:ext cx="1771408" cy="228594"/>
          </a:xfrm>
          <a:prstGeom prst="rect">
            <a:avLst/>
          </a:prstGeom>
          <a:solidFill>
            <a:srgbClr val="000000">
              <a:alpha val="60000"/>
            </a:srgbClr>
          </a:solidFill>
          <a:ln/>
        </p:spPr>
      </p:sp>
      <p:sp>
        <p:nvSpPr>
          <p:cNvPr id="3" name="Text 1"/>
          <p:cNvSpPr/>
          <p:nvPr/>
        </p:nvSpPr>
        <p:spPr>
          <a:xfrm>
            <a:off x="1282668" y="1654927"/>
            <a:ext cx="5410065"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New vs. Returning Visitors
</a:t>
            </a:r>
            <a:endParaRPr lang="en-US" sz="1400" dirty="0"/>
          </a:p>
        </p:txBody>
      </p:sp>
      <p:sp>
        <p:nvSpPr>
          <p:cNvPr id="4" name="Text 2"/>
          <p:cNvSpPr/>
          <p:nvPr/>
        </p:nvSpPr>
        <p:spPr>
          <a:xfrm>
            <a:off x="1282668" y="1959720"/>
            <a:ext cx="5410065" cy="103105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New visitors convert at 24.93%, nearly double the 14.09% for returning visitors. This disparity highlights a significant optimization opportunity for enhancing returning visitor engagement.
</a:t>
            </a:r>
            <a:endParaRPr lang="en-US" sz="1300" dirty="0"/>
          </a:p>
        </p:txBody>
      </p:sp>
      <p:sp>
        <p:nvSpPr>
          <p:cNvPr id="5" name="Text 3"/>
          <p:cNvSpPr/>
          <p:nvPr/>
        </p:nvSpPr>
        <p:spPr>
          <a:xfrm>
            <a:off x="1282668" y="3219370"/>
            <a:ext cx="5410065"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Investigate Conversion Drop
</a:t>
            </a:r>
            <a:endParaRPr lang="en-US" sz="1400" dirty="0"/>
          </a:p>
        </p:txBody>
      </p:sp>
      <p:sp>
        <p:nvSpPr>
          <p:cNvPr id="6" name="Text 4"/>
          <p:cNvSpPr/>
          <p:nvPr/>
        </p:nvSpPr>
        <p:spPr>
          <a:xfrm>
            <a:off x="1282668" y="3524162"/>
            <a:ext cx="5410065" cy="103105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Understanding the reasons behind lower conversion rates for returning visitors is crucial. Factors may include checkout friction, lack of personalized offers, or ineffective remarketing strategies.
</a:t>
            </a:r>
            <a:endParaRPr lang="en-US" sz="1300" dirty="0"/>
          </a:p>
        </p:txBody>
      </p:sp>
      <p:sp>
        <p:nvSpPr>
          <p:cNvPr id="7" name="Text 5"/>
          <p:cNvSpPr/>
          <p:nvPr/>
        </p:nvSpPr>
        <p:spPr>
          <a:xfrm>
            <a:off x="1282668" y="4783812"/>
            <a:ext cx="5410065"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Targeted Marketing Efforts
</a:t>
            </a:r>
            <a:endParaRPr lang="en-US" sz="1400" dirty="0"/>
          </a:p>
        </p:txBody>
      </p:sp>
      <p:sp>
        <p:nvSpPr>
          <p:cNvPr id="8" name="Text 6"/>
          <p:cNvSpPr/>
          <p:nvPr/>
        </p:nvSpPr>
        <p:spPr>
          <a:xfrm>
            <a:off x="1282668" y="5088604"/>
            <a:ext cx="5410065" cy="1031056"/>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Implementing targeted marketing strategies, such as personalized recommendations and loyalty incentives, can significantly enhance engagement and conversion rates among returning visitors.
</a:t>
            </a:r>
            <a:endParaRPr lang="en-US" sz="1300" dirty="0"/>
          </a:p>
        </p:txBody>
      </p:sp>
      <p:sp>
        <p:nvSpPr>
          <p:cNvPr id="9" name="Text 7"/>
          <p:cNvSpPr/>
          <p:nvPr/>
        </p:nvSpPr>
        <p:spPr>
          <a:xfrm>
            <a:off x="7365815" y="6578435"/>
            <a:ext cx="1619012" cy="177795"/>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sofia inductgroup
</a:t>
            </a:r>
            <a:endParaRPr lang="en-US" sz="900" dirty="0"/>
          </a:p>
        </p:txBody>
      </p:sp>
      <p:sp>
        <p:nvSpPr>
          <p:cNvPr id="10" name="Text 8"/>
          <p:cNvSpPr/>
          <p:nvPr/>
        </p:nvSpPr>
        <p:spPr>
          <a:xfrm>
            <a:off x="711182" y="725469"/>
            <a:ext cx="5994250" cy="396072"/>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Visitor Behavior Insights
</a:t>
            </a:r>
            <a:endParaRPr lang="en-US" sz="2300" dirty="0"/>
          </a:p>
        </p:txBody>
      </p:sp>
      <p:sp>
        <p:nvSpPr>
          <p:cNvPr id="11" name="Shape 9"/>
          <p:cNvSpPr/>
          <p:nvPr/>
        </p:nvSpPr>
        <p:spPr>
          <a:xfrm>
            <a:off x="711182" y="1350135"/>
            <a:ext cx="660384" cy="63498"/>
          </a:xfrm>
          <a:prstGeom prst="ellipse">
            <a:avLst/>
          </a:prstGeom>
          <a:solidFill>
            <a:srgbClr val="7C3AED"/>
          </a:solidFill>
          <a:ln/>
        </p:spPr>
      </p:sp>
      <p:sp>
        <p:nvSpPr>
          <p:cNvPr id="12" name="Shape 10"/>
          <p:cNvSpPr/>
          <p:nvPr/>
        </p:nvSpPr>
        <p:spPr>
          <a:xfrm>
            <a:off x="711182" y="1654927"/>
            <a:ext cx="380990" cy="380990"/>
          </a:xfrm>
          <a:prstGeom prst="ellipse">
            <a:avLst/>
          </a:prstGeom>
          <a:solidFill>
            <a:srgbClr val="7C3AED">
              <a:alpha val="12000"/>
            </a:srgbClr>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0080" y="1743825"/>
            <a:ext cx="203195" cy="203195"/>
          </a:xfrm>
          <a:prstGeom prst="rect">
            <a:avLst/>
          </a:prstGeom>
        </p:spPr>
      </p:pic>
      <p:sp>
        <p:nvSpPr>
          <p:cNvPr id="14" name="Shape 11"/>
          <p:cNvSpPr/>
          <p:nvPr/>
        </p:nvSpPr>
        <p:spPr>
          <a:xfrm>
            <a:off x="711182" y="3219370"/>
            <a:ext cx="380990" cy="380990"/>
          </a:xfrm>
          <a:prstGeom prst="ellipse">
            <a:avLst/>
          </a:prstGeom>
          <a:solidFill>
            <a:srgbClr val="7C3AED">
              <a:alpha val="12000"/>
            </a:srgbClr>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080" y="3308267"/>
            <a:ext cx="203195" cy="203195"/>
          </a:xfrm>
          <a:prstGeom prst="rect">
            <a:avLst/>
          </a:prstGeom>
        </p:spPr>
      </p:pic>
      <p:sp>
        <p:nvSpPr>
          <p:cNvPr id="16" name="Shape 12"/>
          <p:cNvSpPr/>
          <p:nvPr/>
        </p:nvSpPr>
        <p:spPr>
          <a:xfrm>
            <a:off x="711182" y="4783812"/>
            <a:ext cx="380990" cy="380990"/>
          </a:xfrm>
          <a:prstGeom prst="ellipse">
            <a:avLst/>
          </a:prstGeom>
          <a:solidFill>
            <a:srgbClr val="7C3AED">
              <a:alpha val="12000"/>
            </a:srgbClr>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080" y="4872709"/>
            <a:ext cx="203195" cy="203195"/>
          </a:xfrm>
          <a:prstGeom prst="rect">
            <a:avLst/>
          </a:prstGeom>
        </p:spPr>
      </p:pic>
      <p:sp>
        <p:nvSpPr>
          <p:cNvPr id="18" name="Shape 13"/>
          <p:cNvSpPr/>
          <p:nvPr/>
        </p:nvSpPr>
        <p:spPr>
          <a:xfrm>
            <a:off x="7137221" y="0"/>
            <a:ext cx="76198" cy="6812280"/>
          </a:xfrm>
          <a:prstGeom prst="rect">
            <a:avLst/>
          </a:prstGeom>
          <a:solidFill>
            <a:srgbClr val="7C3AED"/>
          </a:solidFill>
          <a:ln/>
        </p:spPr>
      </p:sp>
      <p:pic>
        <p:nvPicPr>
          <p:cNvPr id="19" name="Image 3" descr="preencoded.png">    </p:cNvPr>
          <p:cNvPicPr>
            <a:picLocks noChangeAspect="1"/>
          </p:cNvPicPr>
          <p:nvPr/>
        </p:nvPicPr>
        <p:blipFill>
          <a:blip r:embed="rId7"/>
          <a:srcRect l="0" r="0" t="0" b="0"/>
          <a:stretch/>
        </p:blipFill>
        <p:spPr>
          <a:xfrm>
            <a:off x="7213419" y="0"/>
            <a:ext cx="4932556" cy="6812280"/>
          </a:xfrm>
          <a:prstGeom prst="rect">
            <a:avLst/>
          </a:prstGeom>
        </p:spPr>
      </p:pic>
      <p:sp>
        <p:nvSpPr>
          <p:cNvPr id="20" name="Text 1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15975" y="1669413"/>
            <a:ext cx="3183255" cy="1922613"/>
          </a:xfrm>
          <a:prstGeom prst="roundRect">
            <a:avLst>
              <a:gd name="adj" fmla="val 10569"/>
            </a:avLst>
          </a:prstGeom>
          <a:solidFill>
            <a:srgbClr val="000000">
              <a:alpha val="0"/>
            </a:srgbClr>
          </a:solidFill>
          <a:ln w="12700">
            <a:solidFill>
              <a:srgbClr val="0F172A">
                <a:alpha val="18000"/>
              </a:srgbClr>
            </a:solidFill>
            <a:prstDash val="solid"/>
          </a:ln>
        </p:spPr>
      </p:sp>
      <p:sp>
        <p:nvSpPr>
          <p:cNvPr id="3" name="Shape 1"/>
          <p:cNvSpPr/>
          <p:nvPr/>
        </p:nvSpPr>
        <p:spPr>
          <a:xfrm>
            <a:off x="4504022" y="1669413"/>
            <a:ext cx="3183453" cy="1922613"/>
          </a:xfrm>
          <a:prstGeom prst="roundRect">
            <a:avLst>
              <a:gd name="adj" fmla="val 10569"/>
            </a:avLst>
          </a:prstGeom>
          <a:solidFill>
            <a:srgbClr val="000000">
              <a:alpha val="0"/>
            </a:srgbClr>
          </a:solidFill>
          <a:ln w="12700">
            <a:solidFill>
              <a:srgbClr val="0F172A">
                <a:alpha val="18000"/>
              </a:srgbClr>
            </a:solidFill>
            <a:prstDash val="solid"/>
          </a:ln>
        </p:spPr>
      </p:sp>
      <p:sp>
        <p:nvSpPr>
          <p:cNvPr id="4" name="Shape 2"/>
          <p:cNvSpPr/>
          <p:nvPr/>
        </p:nvSpPr>
        <p:spPr>
          <a:xfrm>
            <a:off x="7992267" y="1669413"/>
            <a:ext cx="3183453" cy="1922613"/>
          </a:xfrm>
          <a:prstGeom prst="roundRect">
            <a:avLst>
              <a:gd name="adj" fmla="val 10569"/>
            </a:avLst>
          </a:prstGeom>
          <a:solidFill>
            <a:srgbClr val="000000">
              <a:alpha val="0"/>
            </a:srgbClr>
          </a:solidFill>
          <a:ln w="12700">
            <a:solidFill>
              <a:srgbClr val="0F172A">
                <a:alpha val="18000"/>
              </a:srgbClr>
            </a:solidFill>
            <a:prstDash val="solid"/>
          </a:ln>
        </p:spPr>
      </p:sp>
      <p:sp>
        <p:nvSpPr>
          <p:cNvPr id="5" name="Shape 3"/>
          <p:cNvSpPr/>
          <p:nvPr/>
        </p:nvSpPr>
        <p:spPr>
          <a:xfrm>
            <a:off x="1015975" y="3896818"/>
            <a:ext cx="3191787" cy="2180377"/>
          </a:xfrm>
          <a:prstGeom prst="roundRect">
            <a:avLst>
              <a:gd name="adj" fmla="val 9319"/>
            </a:avLst>
          </a:prstGeom>
          <a:solidFill>
            <a:srgbClr val="000000">
              <a:alpha val="0"/>
            </a:srgbClr>
          </a:solidFill>
          <a:ln w="12700">
            <a:solidFill>
              <a:srgbClr val="0F172A">
                <a:alpha val="18000"/>
              </a:srgbClr>
            </a:solidFill>
            <a:prstDash val="solid"/>
          </a:ln>
        </p:spPr>
      </p:sp>
      <p:sp>
        <p:nvSpPr>
          <p:cNvPr id="6" name="Shape 4"/>
          <p:cNvSpPr/>
          <p:nvPr/>
        </p:nvSpPr>
        <p:spPr>
          <a:xfrm>
            <a:off x="4512554" y="3896818"/>
            <a:ext cx="3191986" cy="2180377"/>
          </a:xfrm>
          <a:prstGeom prst="roundRect">
            <a:avLst>
              <a:gd name="adj" fmla="val 9319"/>
            </a:avLst>
          </a:prstGeom>
          <a:solidFill>
            <a:srgbClr val="000000">
              <a:alpha val="0"/>
            </a:srgbClr>
          </a:solidFill>
          <a:ln w="12700">
            <a:solidFill>
              <a:srgbClr val="0F172A">
                <a:alpha val="18000"/>
              </a:srgbClr>
            </a:solidFill>
            <a:prstDash val="solid"/>
          </a:ln>
        </p:spPr>
      </p:sp>
      <p:sp>
        <p:nvSpPr>
          <p:cNvPr id="7" name="Text 5"/>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Key Features
</a:t>
            </a:r>
            <a:endParaRPr lang="en-US" sz="2900" dirty="0"/>
          </a:p>
        </p:txBody>
      </p:sp>
      <p:sp>
        <p:nvSpPr>
          <p:cNvPr id="8" name="Text 6"/>
          <p:cNvSpPr/>
          <p:nvPr/>
        </p:nvSpPr>
        <p:spPr>
          <a:xfrm>
            <a:off x="1917652" y="1910707"/>
            <a:ext cx="2040283" cy="539736"/>
          </a:xfrm>
          <a:prstGeom prst="rect">
            <a:avLst/>
          </a:prstGeom>
          <a:noFill/>
          <a:ln/>
        </p:spPr>
        <p:txBody>
          <a:bodyPr wrap="square" lIns="1016" tIns="1016" rIns="1016" bIns="1016" rtlCol="0" anchor="t"/>
          <a:lstStyle/>
          <a:p>
            <a:pPr algn="l" indent="0" marL="0">
              <a:lnSpc>
                <a:spcPct val="125000"/>
              </a:lnSpc>
              <a:buNone/>
            </a:pPr>
            <a:r>
              <a:rPr lang="en-US" sz="1500" b="1" dirty="0">
                <a:solidFill>
                  <a:srgbClr val="0F172A"/>
                </a:solidFill>
                <a:latin typeface="Segoe UI" pitchFamily="34" charset="0"/>
                <a:ea typeface="Segoe UI" pitchFamily="34" charset="-122"/>
                <a:cs typeface="Segoe UI" pitchFamily="34" charset="-120"/>
              </a:rPr>
              <a:t>Visitor Behavior Analysis
</a:t>
            </a:r>
            <a:endParaRPr lang="en-US" sz="1500" dirty="0"/>
          </a:p>
        </p:txBody>
      </p:sp>
      <p:sp>
        <p:nvSpPr>
          <p:cNvPr id="9" name="Text 7"/>
          <p:cNvSpPr/>
          <p:nvPr/>
        </p:nvSpPr>
        <p:spPr>
          <a:xfrm>
            <a:off x="1257269" y="2577440"/>
            <a:ext cx="2700667" cy="773291"/>
          </a:xfrm>
          <a:prstGeom prst="rect">
            <a:avLst/>
          </a:prstGeom>
          <a:noFill/>
          <a:ln/>
        </p:spPr>
        <p:txBody>
          <a:bodyPr wrap="square" lIns="1016" tIns="1016" rIns="1016" bIns="1016" rtlCol="0" anchor="t"/>
          <a:lstStyle/>
          <a:p>
            <a:pPr algn="l" indent="0" marL="0">
              <a:lnSpc>
                <a:spcPct val="145000"/>
              </a:lnSpc>
              <a:buNone/>
            </a:pPr>
            <a:r>
              <a:rPr lang="en-US" sz="1300" dirty="0">
                <a:solidFill>
                  <a:srgbClr val="0F172A"/>
                </a:solidFill>
                <a:latin typeface="Segoe UI" pitchFamily="34" charset="0"/>
                <a:ea typeface="Segoe UI" pitchFamily="34" charset="-122"/>
                <a:cs typeface="Segoe UI" pitchFamily="34" charset="-120"/>
              </a:rPr>
              <a:t>AI analyzes visitor interactions to identify high-risk sessions for potential recovery.
</a:t>
            </a:r>
            <a:endParaRPr lang="en-US" sz="1300" dirty="0"/>
          </a:p>
        </p:txBody>
      </p:sp>
      <p:sp>
        <p:nvSpPr>
          <p:cNvPr id="10" name="Text 8"/>
          <p:cNvSpPr/>
          <p:nvPr/>
        </p:nvSpPr>
        <p:spPr>
          <a:xfrm>
            <a:off x="5405699" y="2029766"/>
            <a:ext cx="2040482" cy="269868"/>
          </a:xfrm>
          <a:prstGeom prst="rect">
            <a:avLst/>
          </a:prstGeom>
          <a:noFill/>
          <a:ln/>
        </p:spPr>
        <p:txBody>
          <a:bodyPr wrap="square" lIns="1016" tIns="1016" rIns="1016" bIns="1016" rtlCol="0" anchor="t"/>
          <a:lstStyle/>
          <a:p>
            <a:pPr algn="l" indent="0" marL="0">
              <a:lnSpc>
                <a:spcPct val="125000"/>
              </a:lnSpc>
              <a:buNone/>
            </a:pPr>
            <a:r>
              <a:rPr lang="en-US" sz="1500" b="1" dirty="0">
                <a:solidFill>
                  <a:srgbClr val="0F172A"/>
                </a:solidFill>
                <a:latin typeface="Segoe UI" pitchFamily="34" charset="0"/>
                <a:ea typeface="Segoe UI" pitchFamily="34" charset="-122"/>
                <a:cs typeface="Segoe UI" pitchFamily="34" charset="-120"/>
              </a:rPr>
              <a:t>Risk Assessment
</a:t>
            </a:r>
            <a:endParaRPr lang="en-US" sz="1500" dirty="0"/>
          </a:p>
        </p:txBody>
      </p:sp>
      <p:sp>
        <p:nvSpPr>
          <p:cNvPr id="11" name="Text 9"/>
          <p:cNvSpPr/>
          <p:nvPr/>
        </p:nvSpPr>
        <p:spPr>
          <a:xfrm>
            <a:off x="4745315" y="2545691"/>
            <a:ext cx="2700865" cy="773292"/>
          </a:xfrm>
          <a:prstGeom prst="rect">
            <a:avLst/>
          </a:prstGeom>
          <a:noFill/>
          <a:ln/>
        </p:spPr>
        <p:txBody>
          <a:bodyPr wrap="square" lIns="1016" tIns="1016" rIns="1016" bIns="1016" rtlCol="0" anchor="t"/>
          <a:lstStyle/>
          <a:p>
            <a:pPr algn="l" indent="0" marL="0">
              <a:lnSpc>
                <a:spcPct val="145000"/>
              </a:lnSpc>
              <a:buNone/>
            </a:pPr>
            <a:r>
              <a:rPr lang="en-US" sz="1300" dirty="0">
                <a:solidFill>
                  <a:srgbClr val="0F172A"/>
                </a:solidFill>
                <a:latin typeface="Segoe UI" pitchFamily="34" charset="0"/>
                <a:ea typeface="Segoe UI" pitchFamily="34" charset="-122"/>
                <a:cs typeface="Segoe UI" pitchFamily="34" charset="-120"/>
              </a:rPr>
              <a:t>Prioritizes recovery actions based on user engagement metrics and session quality.
</a:t>
            </a:r>
            <a:endParaRPr lang="en-US" sz="1300" dirty="0"/>
          </a:p>
        </p:txBody>
      </p:sp>
      <p:sp>
        <p:nvSpPr>
          <p:cNvPr id="12" name="Text 10"/>
          <p:cNvSpPr/>
          <p:nvPr/>
        </p:nvSpPr>
        <p:spPr>
          <a:xfrm>
            <a:off x="8893944" y="1910707"/>
            <a:ext cx="2040482" cy="539736"/>
          </a:xfrm>
          <a:prstGeom prst="rect">
            <a:avLst/>
          </a:prstGeom>
          <a:noFill/>
          <a:ln/>
        </p:spPr>
        <p:txBody>
          <a:bodyPr wrap="square" lIns="1016" tIns="1016" rIns="1016" bIns="1016" rtlCol="0" anchor="t"/>
          <a:lstStyle/>
          <a:p>
            <a:pPr algn="l" indent="0" marL="0">
              <a:lnSpc>
                <a:spcPct val="125000"/>
              </a:lnSpc>
              <a:buNone/>
            </a:pPr>
            <a:r>
              <a:rPr lang="en-US" sz="1500" b="1" dirty="0">
                <a:solidFill>
                  <a:srgbClr val="0F172A"/>
                </a:solidFill>
                <a:latin typeface="Segoe UI" pitchFamily="34" charset="0"/>
                <a:ea typeface="Segoe UI" pitchFamily="34" charset="-122"/>
                <a:cs typeface="Segoe UI" pitchFamily="34" charset="-120"/>
              </a:rPr>
              <a:t>Personalized Recommendations
</a:t>
            </a:r>
            <a:endParaRPr lang="en-US" sz="1500" dirty="0"/>
          </a:p>
        </p:txBody>
      </p:sp>
      <p:sp>
        <p:nvSpPr>
          <p:cNvPr id="13" name="Text 11"/>
          <p:cNvSpPr/>
          <p:nvPr/>
        </p:nvSpPr>
        <p:spPr>
          <a:xfrm>
            <a:off x="8233561" y="2577440"/>
            <a:ext cx="2700865" cy="773291"/>
          </a:xfrm>
          <a:prstGeom prst="rect">
            <a:avLst/>
          </a:prstGeom>
          <a:noFill/>
          <a:ln/>
        </p:spPr>
        <p:txBody>
          <a:bodyPr wrap="square" lIns="1016" tIns="1016" rIns="1016" bIns="1016" rtlCol="0" anchor="t"/>
          <a:lstStyle/>
          <a:p>
            <a:pPr algn="l" indent="0" marL="0">
              <a:lnSpc>
                <a:spcPct val="145000"/>
              </a:lnSpc>
              <a:buNone/>
            </a:pPr>
            <a:r>
              <a:rPr lang="en-US" sz="1300" dirty="0">
                <a:solidFill>
                  <a:srgbClr val="0F172A"/>
                </a:solidFill>
                <a:latin typeface="Segoe UI" pitchFamily="34" charset="0"/>
                <a:ea typeface="Segoe UI" pitchFamily="34" charset="-122"/>
                <a:cs typeface="Segoe UI" pitchFamily="34" charset="-120"/>
              </a:rPr>
              <a:t>Generates tailored recovery messages to enhance customer engagement and conversion.
</a:t>
            </a:r>
            <a:endParaRPr lang="en-US" sz="1300" dirty="0"/>
          </a:p>
        </p:txBody>
      </p:sp>
      <p:sp>
        <p:nvSpPr>
          <p:cNvPr id="14" name="Text 12"/>
          <p:cNvSpPr/>
          <p:nvPr/>
        </p:nvSpPr>
        <p:spPr>
          <a:xfrm>
            <a:off x="1917652" y="4138112"/>
            <a:ext cx="2048816" cy="539737"/>
          </a:xfrm>
          <a:prstGeom prst="rect">
            <a:avLst/>
          </a:prstGeom>
          <a:noFill/>
          <a:ln/>
        </p:spPr>
        <p:txBody>
          <a:bodyPr wrap="square" lIns="1016" tIns="1016" rIns="1016" bIns="1016" rtlCol="0" anchor="t"/>
          <a:lstStyle/>
          <a:p>
            <a:pPr algn="l" indent="0" marL="0">
              <a:lnSpc>
                <a:spcPct val="125000"/>
              </a:lnSpc>
              <a:buNone/>
            </a:pPr>
            <a:r>
              <a:rPr lang="en-US" sz="1500" b="1" dirty="0">
                <a:solidFill>
                  <a:srgbClr val="0F172A"/>
                </a:solidFill>
                <a:latin typeface="Segoe UI" pitchFamily="34" charset="0"/>
                <a:ea typeface="Segoe UI" pitchFamily="34" charset="-122"/>
                <a:cs typeface="Segoe UI" pitchFamily="34" charset="-120"/>
              </a:rPr>
              <a:t>Controlled Decision-Making
</a:t>
            </a:r>
            <a:endParaRPr lang="en-US" sz="1500" dirty="0"/>
          </a:p>
        </p:txBody>
      </p:sp>
      <p:sp>
        <p:nvSpPr>
          <p:cNvPr id="15" name="Text 13"/>
          <p:cNvSpPr/>
          <p:nvPr/>
        </p:nvSpPr>
        <p:spPr>
          <a:xfrm>
            <a:off x="1257269" y="4804845"/>
            <a:ext cx="2709199" cy="773291"/>
          </a:xfrm>
          <a:prstGeom prst="rect">
            <a:avLst/>
          </a:prstGeom>
          <a:noFill/>
          <a:ln/>
        </p:spPr>
        <p:txBody>
          <a:bodyPr wrap="square" lIns="1016" tIns="1016" rIns="1016" bIns="1016" rtlCol="0" anchor="t"/>
          <a:lstStyle/>
          <a:p>
            <a:pPr algn="l" indent="0" marL="0">
              <a:lnSpc>
                <a:spcPct val="145000"/>
              </a:lnSpc>
              <a:buNone/>
            </a:pPr>
            <a:r>
              <a:rPr lang="en-US" sz="1300" dirty="0">
                <a:solidFill>
                  <a:srgbClr val="0F172A"/>
                </a:solidFill>
                <a:latin typeface="Segoe UI" pitchFamily="34" charset="0"/>
                <a:ea typeface="Segoe UI" pitchFamily="34" charset="-122"/>
                <a:cs typeface="Segoe UI" pitchFamily="34" charset="-120"/>
              </a:rPr>
              <a:t>Business rules guide AI recommendations, ensuring accountability and oversight.
</a:t>
            </a:r>
            <a:endParaRPr lang="en-US" sz="1300" dirty="0"/>
          </a:p>
        </p:txBody>
      </p:sp>
      <p:sp>
        <p:nvSpPr>
          <p:cNvPr id="16" name="Text 14"/>
          <p:cNvSpPr/>
          <p:nvPr/>
        </p:nvSpPr>
        <p:spPr>
          <a:xfrm>
            <a:off x="5414232" y="4138112"/>
            <a:ext cx="2049014" cy="539737"/>
          </a:xfrm>
          <a:prstGeom prst="rect">
            <a:avLst/>
          </a:prstGeom>
          <a:noFill/>
          <a:ln/>
        </p:spPr>
        <p:txBody>
          <a:bodyPr wrap="square" lIns="1016" tIns="1016" rIns="1016" bIns="1016" rtlCol="0" anchor="t"/>
          <a:lstStyle/>
          <a:p>
            <a:pPr algn="l" indent="0" marL="0">
              <a:lnSpc>
                <a:spcPct val="125000"/>
              </a:lnSpc>
              <a:buNone/>
            </a:pPr>
            <a:r>
              <a:rPr lang="en-US" sz="1500" b="1" dirty="0">
                <a:solidFill>
                  <a:srgbClr val="0F172A"/>
                </a:solidFill>
                <a:latin typeface="Segoe UI" pitchFamily="34" charset="0"/>
                <a:ea typeface="Segoe UI" pitchFamily="34" charset="-122"/>
                <a:cs typeface="Segoe UI" pitchFamily="34" charset="-120"/>
              </a:rPr>
              <a:t>Scalable Automation
</a:t>
            </a:r>
            <a:endParaRPr lang="en-US" sz="1500" dirty="0"/>
          </a:p>
        </p:txBody>
      </p:sp>
      <p:sp>
        <p:nvSpPr>
          <p:cNvPr id="17" name="Text 15"/>
          <p:cNvSpPr/>
          <p:nvPr/>
        </p:nvSpPr>
        <p:spPr>
          <a:xfrm>
            <a:off x="4753848" y="4804845"/>
            <a:ext cx="2709398" cy="1031055"/>
          </a:xfrm>
          <a:prstGeom prst="rect">
            <a:avLst/>
          </a:prstGeom>
          <a:noFill/>
          <a:ln/>
        </p:spPr>
        <p:txBody>
          <a:bodyPr wrap="square" lIns="1016" tIns="1016" rIns="1016" bIns="1016" rtlCol="0" anchor="t"/>
          <a:lstStyle/>
          <a:p>
            <a:pPr algn="l" indent="0" marL="0">
              <a:lnSpc>
                <a:spcPct val="145000"/>
              </a:lnSpc>
              <a:buNone/>
            </a:pPr>
            <a:r>
              <a:rPr lang="en-US" sz="1300" dirty="0">
                <a:solidFill>
                  <a:srgbClr val="0F172A"/>
                </a:solidFill>
                <a:latin typeface="Segoe UI" pitchFamily="34" charset="0"/>
                <a:ea typeface="Segoe UI" pitchFamily="34" charset="-122"/>
                <a:cs typeface="Segoe UI" pitchFamily="34" charset="-120"/>
              </a:rPr>
              <a:t>Automates the recovery process, allowing for efficient handling of large volumes of sessions.
</a:t>
            </a:r>
            <a:endParaRPr lang="en-US" sz="1300" dirty="0"/>
          </a:p>
        </p:txBody>
      </p:sp>
      <p:sp>
        <p:nvSpPr>
          <p:cNvPr id="18" name="Shape 16"/>
          <p:cNvSpPr/>
          <p:nvPr/>
        </p:nvSpPr>
        <p:spPr>
          <a:xfrm>
            <a:off x="1257269" y="1926581"/>
            <a:ext cx="507987" cy="507987"/>
          </a:xfrm>
          <a:prstGeom prst="roundRect">
            <a:avLst>
              <a:gd name="adj" fmla="val 25000"/>
            </a:avLst>
          </a:prstGeom>
          <a:solidFill>
            <a:srgbClr val="7C3AED">
              <a:alpha val="12000"/>
            </a:srgbClr>
          </a:solidFill>
          <a:ln/>
        </p:spPr>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71566" y="2040879"/>
            <a:ext cx="279393" cy="279393"/>
          </a:xfrm>
          <a:prstGeom prst="rect">
            <a:avLst/>
          </a:prstGeom>
        </p:spPr>
      </p:pic>
      <p:sp>
        <p:nvSpPr>
          <p:cNvPr id="20" name="Shape 17"/>
          <p:cNvSpPr/>
          <p:nvPr/>
        </p:nvSpPr>
        <p:spPr>
          <a:xfrm>
            <a:off x="4745315" y="1910707"/>
            <a:ext cx="507988" cy="507987"/>
          </a:xfrm>
          <a:prstGeom prst="roundRect">
            <a:avLst>
              <a:gd name="adj" fmla="val 25000"/>
            </a:avLst>
          </a:prstGeom>
          <a:solidFill>
            <a:srgbClr val="8B5CF6">
              <a:alpha val="12000"/>
            </a:srgbClr>
          </a:solidFill>
          <a:ln/>
        </p:spPr>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59613" y="2025004"/>
            <a:ext cx="279393" cy="279393"/>
          </a:xfrm>
          <a:prstGeom prst="rect">
            <a:avLst/>
          </a:prstGeom>
        </p:spPr>
      </p:pic>
      <p:sp>
        <p:nvSpPr>
          <p:cNvPr id="22" name="Shape 18"/>
          <p:cNvSpPr/>
          <p:nvPr/>
        </p:nvSpPr>
        <p:spPr>
          <a:xfrm>
            <a:off x="8233561" y="1926581"/>
            <a:ext cx="507987" cy="507987"/>
          </a:xfrm>
          <a:prstGeom prst="roundRect">
            <a:avLst>
              <a:gd name="adj" fmla="val 25000"/>
            </a:avLst>
          </a:prstGeom>
          <a:solidFill>
            <a:srgbClr val="7C3AED">
              <a:alpha val="12000"/>
            </a:srgbClr>
          </a:solidFill>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47858" y="2040879"/>
            <a:ext cx="279393" cy="279393"/>
          </a:xfrm>
          <a:prstGeom prst="rect">
            <a:avLst/>
          </a:prstGeom>
        </p:spPr>
      </p:pic>
      <p:sp>
        <p:nvSpPr>
          <p:cNvPr id="24" name="Shape 19"/>
          <p:cNvSpPr/>
          <p:nvPr/>
        </p:nvSpPr>
        <p:spPr>
          <a:xfrm>
            <a:off x="1257269" y="4153987"/>
            <a:ext cx="507987" cy="507987"/>
          </a:xfrm>
          <a:prstGeom prst="roundRect">
            <a:avLst>
              <a:gd name="adj" fmla="val 25000"/>
            </a:avLst>
          </a:prstGeom>
          <a:solidFill>
            <a:srgbClr val="7C3AED">
              <a:alpha val="12000"/>
            </a:srgbClr>
          </a:solidFill>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71566" y="4268284"/>
            <a:ext cx="279393" cy="279393"/>
          </a:xfrm>
          <a:prstGeom prst="rect">
            <a:avLst/>
          </a:prstGeom>
        </p:spPr>
      </p:pic>
      <p:sp>
        <p:nvSpPr>
          <p:cNvPr id="26" name="Shape 20"/>
          <p:cNvSpPr/>
          <p:nvPr/>
        </p:nvSpPr>
        <p:spPr>
          <a:xfrm>
            <a:off x="4753848" y="4153987"/>
            <a:ext cx="507988" cy="507987"/>
          </a:xfrm>
          <a:prstGeom prst="roundRect">
            <a:avLst>
              <a:gd name="adj" fmla="val 25000"/>
            </a:avLst>
          </a:prstGeom>
          <a:solidFill>
            <a:srgbClr val="8B5CF6">
              <a:alpha val="12000"/>
            </a:srgbClr>
          </a:solidFill>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68145" y="4268284"/>
            <a:ext cx="279393" cy="279393"/>
          </a:xfrm>
          <a:prstGeom prst="rect">
            <a:avLst/>
          </a:prstGeom>
        </p:spPr>
      </p:pic>
      <p:sp>
        <p:nvSpPr>
          <p:cNvPr id="28" name="Text 2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E-commerce Recovery Process Flow
</a:t>
            </a:r>
            <a:endParaRPr lang="en-US" sz="2900" dirty="0"/>
          </a:p>
        </p:txBody>
      </p:sp>
      <p:pic>
        <p:nvPicPr>
          <p:cNvPr id="3" name="Image 0" descr="preencoded.png">    </p:cNvPr>
          <p:cNvPicPr>
            <a:picLocks noChangeAspect="1"/>
          </p:cNvPicPr>
          <p:nvPr/>
        </p:nvPicPr>
        <p:blipFill>
          <a:blip r:embed="rId1"/>
          <a:srcRect l="0" r="0" t="0" b="0"/>
          <a:stretch/>
        </p:blipFill>
        <p:spPr>
          <a:xfrm>
            <a:off x="1523962" y="1981150"/>
            <a:ext cx="9143771" cy="3657509"/>
          </a:xfrm>
          <a:prstGeom prst="rect">
            <a:avLst/>
          </a:prstGeom>
        </p:spPr>
      </p:pic>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567128" y="6553036"/>
            <a:ext cx="1548369" cy="228594"/>
          </a:xfrm>
          <a:prstGeom prst="rect">
            <a:avLst/>
          </a:prstGeom>
          <a:solidFill>
            <a:srgbClr val="000000">
              <a:alpha val="60000"/>
            </a:srgbClr>
          </a:solidFill>
          <a:ln/>
        </p:spPr>
      </p:sp>
      <p:sp>
        <p:nvSpPr>
          <p:cNvPr id="3" name="Text 1"/>
          <p:cNvSpPr/>
          <p:nvPr/>
        </p:nvSpPr>
        <p:spPr>
          <a:xfrm>
            <a:off x="609585" y="2242089"/>
            <a:ext cx="3536861"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Manual Workflow Triggers
</a:t>
            </a:r>
            <a:endParaRPr lang="en-US" sz="1400" dirty="0"/>
          </a:p>
        </p:txBody>
      </p:sp>
      <p:sp>
        <p:nvSpPr>
          <p:cNvPr id="4" name="Text 2"/>
          <p:cNvSpPr/>
          <p:nvPr/>
        </p:nvSpPr>
        <p:spPr>
          <a:xfrm>
            <a:off x="609585" y="2546881"/>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Workflows are initiated manually to capture visitor data, ensuring that each session is evaluated for recovery potential based on real-time engagement metrics.
</a:t>
            </a:r>
            <a:endParaRPr lang="en-US" sz="1300" dirty="0"/>
          </a:p>
        </p:txBody>
      </p:sp>
      <p:sp>
        <p:nvSpPr>
          <p:cNvPr id="5" name="Text 3"/>
          <p:cNvSpPr/>
          <p:nvPr/>
        </p:nvSpPr>
        <p:spPr>
          <a:xfrm>
            <a:off x="4781430" y="2242089"/>
            <a:ext cx="3536861"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Session Evaluation Model
</a:t>
            </a:r>
            <a:endParaRPr lang="en-US" sz="1400" dirty="0"/>
          </a:p>
        </p:txBody>
      </p:sp>
      <p:sp>
        <p:nvSpPr>
          <p:cNvPr id="6" name="Text 4"/>
          <p:cNvSpPr/>
          <p:nvPr/>
        </p:nvSpPr>
        <p:spPr>
          <a:xfrm>
            <a:off x="4781430" y="2546881"/>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The AI model assesses session details, including duration and visitor type, to determine the likelihood of recovery, providing actionable insights for targeted interventions.
</a:t>
            </a:r>
            <a:endParaRPr lang="en-US" sz="1300" dirty="0"/>
          </a:p>
        </p:txBody>
      </p:sp>
      <p:sp>
        <p:nvSpPr>
          <p:cNvPr id="7" name="Text 5"/>
          <p:cNvSpPr/>
          <p:nvPr/>
        </p:nvSpPr>
        <p:spPr>
          <a:xfrm>
            <a:off x="609585" y="4673880"/>
            <a:ext cx="7708707" cy="253994"/>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Test Case Example
</a:t>
            </a:r>
            <a:endParaRPr lang="en-US" sz="1400" dirty="0"/>
          </a:p>
        </p:txBody>
      </p:sp>
      <p:sp>
        <p:nvSpPr>
          <p:cNvPr id="8" name="Text 6"/>
          <p:cNvSpPr/>
          <p:nvPr/>
        </p:nvSpPr>
        <p:spPr>
          <a:xfrm>
            <a:off x="609585" y="4978672"/>
            <a:ext cx="7708707" cy="515526"/>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For a returning visitor with a session duration of 90 seconds, the AI outputs a recovery risk assessment, indicating high potential for targeted recovery actions.
</a:t>
            </a:r>
            <a:endParaRPr lang="en-US" sz="1300" dirty="0"/>
          </a:p>
        </p:txBody>
      </p:sp>
      <p:sp>
        <p:nvSpPr>
          <p:cNvPr id="9" name="Text 7"/>
          <p:cNvSpPr/>
          <p:nvPr/>
        </p:nvSpPr>
        <p:spPr>
          <a:xfrm>
            <a:off x="10643326" y="6578435"/>
            <a:ext cx="1395973" cy="177795"/>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Kelly Sikkema
</a:t>
            </a:r>
            <a:endParaRPr lang="en-US" sz="900" dirty="0"/>
          </a:p>
        </p:txBody>
      </p:sp>
      <p:sp>
        <p:nvSpPr>
          <p:cNvPr id="10" name="Text 8"/>
          <p:cNvSpPr/>
          <p:nvPr/>
        </p:nvSpPr>
        <p:spPr>
          <a:xfrm>
            <a:off x="380990" y="1185635"/>
            <a:ext cx="8140496" cy="396071"/>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Implementing the POC
</a:t>
            </a:r>
            <a:endParaRPr lang="en-US" sz="23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6885" y="1924597"/>
            <a:ext cx="228594" cy="228594"/>
          </a:xfrm>
          <a:prstGeom prst="rect">
            <a:avLst/>
          </a:prstGeom>
        </p:spPr>
      </p:pic>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8731" y="1924597"/>
            <a:ext cx="228594" cy="228594"/>
          </a:xfrm>
          <a:prstGeom prst="rect">
            <a:avLst/>
          </a:prstGeom>
        </p:spPr>
      </p:pic>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885" y="4356388"/>
            <a:ext cx="228594" cy="228594"/>
          </a:xfrm>
          <a:prstGeom prst="rect">
            <a:avLst/>
          </a:prstGeom>
        </p:spPr>
      </p:pic>
      <p:pic>
        <p:nvPicPr>
          <p:cNvPr id="14" name="Image 3" descr="preencoded.png">    </p:cNvPr>
          <p:cNvPicPr>
            <a:picLocks noChangeAspect="1"/>
          </p:cNvPicPr>
          <p:nvPr/>
        </p:nvPicPr>
        <p:blipFill>
          <a:blip r:embed="rId7"/>
          <a:srcRect l="0" r="0" t="0" b="0"/>
          <a:stretch/>
        </p:blipFill>
        <p:spPr>
          <a:xfrm>
            <a:off x="8775480" y="0"/>
            <a:ext cx="3370495" cy="6812280"/>
          </a:xfrm>
          <a:prstGeom prst="rect">
            <a:avLst/>
          </a:prstGeom>
        </p:spPr>
      </p:pic>
      <p:sp>
        <p:nvSpPr>
          <p:cNvPr id="15"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459577" y="6553036"/>
            <a:ext cx="1655920" cy="228594"/>
          </a:xfrm>
          <a:prstGeom prst="rect">
            <a:avLst/>
          </a:prstGeom>
          <a:solidFill>
            <a:srgbClr val="000000">
              <a:alpha val="60000"/>
            </a:srgbClr>
          </a:solidFill>
          <a:ln/>
        </p:spPr>
      </p:sp>
      <p:sp>
        <p:nvSpPr>
          <p:cNvPr id="3" name="Text 1"/>
          <p:cNvSpPr/>
          <p:nvPr/>
        </p:nvSpPr>
        <p:spPr>
          <a:xfrm>
            <a:off x="609585" y="2242090"/>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Three Experiments Conducted
</a:t>
            </a:r>
            <a:endParaRPr lang="en-US" sz="1400" dirty="0"/>
          </a:p>
        </p:txBody>
      </p:sp>
      <p:sp>
        <p:nvSpPr>
          <p:cNvPr id="4" name="Text 2"/>
          <p:cNvSpPr/>
          <p:nvPr/>
        </p:nvSpPr>
        <p:spPr>
          <a:xfrm>
            <a:off x="609585" y="2546883"/>
            <a:ext cx="3536861" cy="103105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We executed three distinct experiments, each comprising five test cases, to rigorously assess the AI's performance and reliability in real-world scenarios.
</a:t>
            </a:r>
            <a:endParaRPr lang="en-US" sz="1300" dirty="0"/>
          </a:p>
        </p:txBody>
      </p:sp>
      <p:sp>
        <p:nvSpPr>
          <p:cNvPr id="5" name="Text 3"/>
          <p:cNvSpPr/>
          <p:nvPr/>
        </p:nvSpPr>
        <p:spPr>
          <a:xfrm>
            <a:off x="4781430" y="2242090"/>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Monitored Key Metrics
</a:t>
            </a:r>
            <a:endParaRPr lang="en-US" sz="1400" dirty="0"/>
          </a:p>
        </p:txBody>
      </p:sp>
      <p:sp>
        <p:nvSpPr>
          <p:cNvPr id="6" name="Text 4"/>
          <p:cNvSpPr/>
          <p:nvPr/>
        </p:nvSpPr>
        <p:spPr>
          <a:xfrm>
            <a:off x="4781430" y="2546883"/>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Key metrics such as correctness, latency, and hallucination rates were closely monitored, providing insights into the AI's operational efficiency and output reliability.
</a:t>
            </a:r>
            <a:endParaRPr lang="en-US" sz="1300" dirty="0"/>
          </a:p>
        </p:txBody>
      </p:sp>
      <p:sp>
        <p:nvSpPr>
          <p:cNvPr id="7" name="Text 5"/>
          <p:cNvSpPr/>
          <p:nvPr/>
        </p:nvSpPr>
        <p:spPr>
          <a:xfrm>
            <a:off x="609585" y="4673881"/>
            <a:ext cx="7708707"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Identified Improvement Areas
</a:t>
            </a:r>
            <a:endParaRPr lang="en-US" sz="1400" dirty="0"/>
          </a:p>
        </p:txBody>
      </p:sp>
      <p:sp>
        <p:nvSpPr>
          <p:cNvPr id="8" name="Text 6"/>
          <p:cNvSpPr/>
          <p:nvPr/>
        </p:nvSpPr>
        <p:spPr>
          <a:xfrm>
            <a:off x="609585" y="4978673"/>
            <a:ext cx="7708707" cy="51552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The evaluation framework highlighted areas for improvement, particularly in data grounding and accuracy, ensuring the AI outputs are relevant and actionable for business needs.
</a:t>
            </a:r>
            <a:endParaRPr lang="en-US" sz="1300" dirty="0"/>
          </a:p>
        </p:txBody>
      </p:sp>
      <p:sp>
        <p:nvSpPr>
          <p:cNvPr id="9" name="Text 7"/>
          <p:cNvSpPr/>
          <p:nvPr/>
        </p:nvSpPr>
        <p:spPr>
          <a:xfrm>
            <a:off x="10535775" y="6578435"/>
            <a:ext cx="1503524" cy="177795"/>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Markus Winkler
</a:t>
            </a:r>
            <a:endParaRPr lang="en-US" sz="900" dirty="0"/>
          </a:p>
        </p:txBody>
      </p:sp>
      <p:sp>
        <p:nvSpPr>
          <p:cNvPr id="10" name="Text 8"/>
          <p:cNvSpPr/>
          <p:nvPr/>
        </p:nvSpPr>
        <p:spPr>
          <a:xfrm>
            <a:off x="380990" y="1185634"/>
            <a:ext cx="8140496" cy="396072"/>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Evaluating AI Effectiveness
</a:t>
            </a:r>
            <a:endParaRPr lang="en-US" sz="23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6885" y="1924597"/>
            <a:ext cx="228594" cy="228594"/>
          </a:xfrm>
          <a:prstGeom prst="rect">
            <a:avLst/>
          </a:prstGeom>
        </p:spPr>
      </p:pic>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8731" y="1924597"/>
            <a:ext cx="228594" cy="228594"/>
          </a:xfrm>
          <a:prstGeom prst="rect">
            <a:avLst/>
          </a:prstGeom>
        </p:spPr>
      </p:pic>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885" y="4356388"/>
            <a:ext cx="228594" cy="228594"/>
          </a:xfrm>
          <a:prstGeom prst="rect">
            <a:avLst/>
          </a:prstGeom>
        </p:spPr>
      </p:pic>
      <p:pic>
        <p:nvPicPr>
          <p:cNvPr id="14" name="Image 3" descr="preencoded.png">    </p:cNvPr>
          <p:cNvPicPr>
            <a:picLocks noChangeAspect="1"/>
          </p:cNvPicPr>
          <p:nvPr/>
        </p:nvPicPr>
        <p:blipFill>
          <a:blip r:embed="rId7"/>
          <a:srcRect l="0" r="0" t="0" b="0"/>
          <a:stretch/>
        </p:blipFill>
        <p:spPr>
          <a:xfrm>
            <a:off x="8775480" y="0"/>
            <a:ext cx="3370495" cy="6812280"/>
          </a:xfrm>
          <a:prstGeom prst="rect">
            <a:avLst/>
          </a:prstGeom>
        </p:spPr>
      </p:pic>
      <p:sp>
        <p:nvSpPr>
          <p:cNvPr id="15"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346166" y="2029569"/>
            <a:ext cx="2963193" cy="3281280"/>
          </a:xfrm>
          <a:prstGeom prst="roundRect">
            <a:avLst>
              <a:gd name="adj" fmla="val 6857"/>
            </a:avLst>
          </a:prstGeom>
          <a:solidFill>
            <a:srgbClr val="7C3AED">
              <a:alpha val="5000"/>
            </a:srgbClr>
          </a:solidFill>
          <a:ln w="12700">
            <a:solidFill>
              <a:srgbClr val="7C3AED">
                <a:alpha val="15000"/>
              </a:srgbClr>
            </a:solidFill>
            <a:prstDash val="solid"/>
          </a:ln>
        </p:spPr>
      </p:sp>
      <p:sp>
        <p:nvSpPr>
          <p:cNvPr id="3" name="Shape 1"/>
          <p:cNvSpPr/>
          <p:nvPr/>
        </p:nvSpPr>
        <p:spPr>
          <a:xfrm>
            <a:off x="4614152" y="2029569"/>
            <a:ext cx="2963392" cy="3281280"/>
          </a:xfrm>
          <a:prstGeom prst="roundRect">
            <a:avLst>
              <a:gd name="adj" fmla="val 6857"/>
            </a:avLst>
          </a:prstGeom>
          <a:solidFill>
            <a:srgbClr val="8B5CF6">
              <a:alpha val="5000"/>
            </a:srgbClr>
          </a:solidFill>
          <a:ln w="12700">
            <a:solidFill>
              <a:srgbClr val="8B5CF6">
                <a:alpha val="15000"/>
              </a:srgbClr>
            </a:solidFill>
            <a:prstDash val="solid"/>
          </a:ln>
        </p:spPr>
      </p:sp>
      <p:sp>
        <p:nvSpPr>
          <p:cNvPr id="4" name="Shape 2"/>
          <p:cNvSpPr/>
          <p:nvPr/>
        </p:nvSpPr>
        <p:spPr>
          <a:xfrm>
            <a:off x="7882336" y="2029569"/>
            <a:ext cx="2963192" cy="3281280"/>
          </a:xfrm>
          <a:prstGeom prst="roundRect">
            <a:avLst>
              <a:gd name="adj" fmla="val 6857"/>
            </a:avLst>
          </a:prstGeom>
          <a:solidFill>
            <a:srgbClr val="7C3AED">
              <a:alpha val="5000"/>
            </a:srgbClr>
          </a:solidFill>
          <a:ln w="12700">
            <a:solidFill>
              <a:srgbClr val="7C3AED">
                <a:alpha val="15000"/>
              </a:srgbClr>
            </a:solidFill>
            <a:prstDash val="solid"/>
          </a:ln>
        </p:spPr>
      </p:sp>
      <p:sp>
        <p:nvSpPr>
          <p:cNvPr id="5" name="Text 3"/>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Key Metrics &amp; Impact
</a:t>
            </a:r>
            <a:endParaRPr lang="en-US" sz="2900" dirty="0"/>
          </a:p>
        </p:txBody>
      </p:sp>
      <p:sp>
        <p:nvSpPr>
          <p:cNvPr id="6" name="Text 4"/>
          <p:cNvSpPr/>
          <p:nvPr/>
        </p:nvSpPr>
        <p:spPr>
          <a:xfrm>
            <a:off x="1584484" y="2790755"/>
            <a:ext cx="2486359" cy="754242"/>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7C3AED"/>
                </a:solidFill>
                <a:latin typeface="Segoe UI" pitchFamily="34" charset="0"/>
                <a:ea typeface="Segoe UI" pitchFamily="34" charset="-122"/>
                <a:cs typeface="Segoe UI" pitchFamily="34" charset="-120"/>
              </a:rPr>
              <a:t>€4,500
</a:t>
            </a:r>
            <a:endParaRPr lang="en-US" sz="4900" dirty="0"/>
          </a:p>
        </p:txBody>
      </p:sp>
      <p:sp>
        <p:nvSpPr>
          <p:cNvPr id="7" name="Text 5"/>
          <p:cNvSpPr/>
          <p:nvPr/>
        </p:nvSpPr>
        <p:spPr>
          <a:xfrm>
            <a:off x="1885308" y="3646594"/>
            <a:ext cx="1884712" cy="285743"/>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Initial Investment
</a:t>
            </a:r>
            <a:endParaRPr lang="en-US" sz="1600" dirty="0"/>
          </a:p>
        </p:txBody>
      </p:sp>
      <p:sp>
        <p:nvSpPr>
          <p:cNvPr id="8" name="Text 6"/>
          <p:cNvSpPr/>
          <p:nvPr/>
        </p:nvSpPr>
        <p:spPr>
          <a:xfrm>
            <a:off x="1536661" y="4033936"/>
            <a:ext cx="2582203" cy="515528"/>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Estimated cost to kickstart the AI project
</a:t>
            </a:r>
            <a:endParaRPr lang="en-US" sz="1300" dirty="0"/>
          </a:p>
        </p:txBody>
      </p:sp>
      <p:sp>
        <p:nvSpPr>
          <p:cNvPr id="9" name="Text 7"/>
          <p:cNvSpPr/>
          <p:nvPr/>
        </p:nvSpPr>
        <p:spPr>
          <a:xfrm>
            <a:off x="4804647" y="2270861"/>
            <a:ext cx="2582401" cy="1508484"/>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8B5CF6"/>
                </a:solidFill>
                <a:latin typeface="Segoe UI" pitchFamily="34" charset="0"/>
                <a:ea typeface="Segoe UI" pitchFamily="34" charset="-122"/>
                <a:cs typeface="Segoe UI" pitchFamily="34" charset="-120"/>
              </a:rPr>
              <a:t>€90–€400
</a:t>
            </a:r>
            <a:endParaRPr lang="en-US" sz="4900" dirty="0"/>
          </a:p>
        </p:txBody>
      </p:sp>
      <p:sp>
        <p:nvSpPr>
          <p:cNvPr id="10" name="Text 8"/>
          <p:cNvSpPr/>
          <p:nvPr/>
        </p:nvSpPr>
        <p:spPr>
          <a:xfrm>
            <a:off x="4804647" y="3880944"/>
            <a:ext cx="2582401" cy="571486"/>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Monthly Operating Costs
</a:t>
            </a:r>
            <a:endParaRPr lang="en-US" sz="1600" dirty="0"/>
          </a:p>
        </p:txBody>
      </p:sp>
      <p:sp>
        <p:nvSpPr>
          <p:cNvPr id="11" name="Text 9"/>
          <p:cNvSpPr/>
          <p:nvPr/>
        </p:nvSpPr>
        <p:spPr>
          <a:xfrm>
            <a:off x="4804647" y="4554027"/>
            <a:ext cx="2582401" cy="515528"/>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Variable costs depending on usage and infrastructure
</a:t>
            </a:r>
            <a:endParaRPr lang="en-US" sz="1300" dirty="0"/>
          </a:p>
        </p:txBody>
      </p:sp>
      <p:sp>
        <p:nvSpPr>
          <p:cNvPr id="12" name="Text 10"/>
          <p:cNvSpPr/>
          <p:nvPr/>
        </p:nvSpPr>
        <p:spPr>
          <a:xfrm>
            <a:off x="8072831" y="2413733"/>
            <a:ext cx="2582202" cy="1508484"/>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7C3AED"/>
                </a:solidFill>
                <a:latin typeface="Segoe UI" pitchFamily="34" charset="0"/>
                <a:ea typeface="Segoe UI" pitchFamily="34" charset="-122"/>
                <a:cs typeface="Segoe UI" pitchFamily="34" charset="-120"/>
              </a:rPr>
              <a:t>1-2 weeks
</a:t>
            </a:r>
            <a:endParaRPr lang="en-US" sz="4900" dirty="0"/>
          </a:p>
        </p:txBody>
      </p:sp>
      <p:sp>
        <p:nvSpPr>
          <p:cNvPr id="13" name="Text 11"/>
          <p:cNvSpPr/>
          <p:nvPr/>
        </p:nvSpPr>
        <p:spPr>
          <a:xfrm>
            <a:off x="8616139" y="4023816"/>
            <a:ext cx="1495586" cy="285743"/>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POC Timeline
</a:t>
            </a:r>
            <a:endParaRPr lang="en-US" sz="1600" dirty="0"/>
          </a:p>
        </p:txBody>
      </p:sp>
      <p:sp>
        <p:nvSpPr>
          <p:cNvPr id="14" name="Text 12"/>
          <p:cNvSpPr/>
          <p:nvPr/>
        </p:nvSpPr>
        <p:spPr>
          <a:xfrm>
            <a:off x="8072831" y="4411155"/>
            <a:ext cx="2582202" cy="515528"/>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Rapid implementation for proof of concept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61981" y="1402325"/>
            <a:ext cx="5240405" cy="2250618"/>
          </a:xfrm>
          <a:prstGeom prst="roundRect">
            <a:avLst>
              <a:gd name="adj" fmla="val 9028"/>
            </a:avLst>
          </a:prstGeom>
          <a:solidFill>
            <a:srgbClr val="000000">
              <a:alpha val="0"/>
            </a:srgbClr>
          </a:solidFill>
          <a:ln w="12700">
            <a:solidFill>
              <a:srgbClr val="0F172A">
                <a:alpha val="18000"/>
              </a:srgbClr>
            </a:solidFill>
            <a:prstDash val="solid"/>
          </a:ln>
        </p:spPr>
      </p:sp>
      <p:sp>
        <p:nvSpPr>
          <p:cNvPr id="3" name="Shape 1"/>
          <p:cNvSpPr/>
          <p:nvPr/>
        </p:nvSpPr>
        <p:spPr>
          <a:xfrm>
            <a:off x="6189309" y="1402325"/>
            <a:ext cx="5240405" cy="2250618"/>
          </a:xfrm>
          <a:prstGeom prst="roundRect">
            <a:avLst>
              <a:gd name="adj" fmla="val 9028"/>
            </a:avLst>
          </a:prstGeom>
          <a:solidFill>
            <a:srgbClr val="000000">
              <a:alpha val="0"/>
            </a:srgbClr>
          </a:solidFill>
          <a:ln w="12700">
            <a:solidFill>
              <a:srgbClr val="0F172A">
                <a:alpha val="18000"/>
              </a:srgbClr>
            </a:solidFill>
            <a:prstDash val="solid"/>
          </a:ln>
        </p:spPr>
      </p:sp>
      <p:sp>
        <p:nvSpPr>
          <p:cNvPr id="4" name="Shape 2"/>
          <p:cNvSpPr/>
          <p:nvPr/>
        </p:nvSpPr>
        <p:spPr>
          <a:xfrm>
            <a:off x="761981" y="3839866"/>
            <a:ext cx="5240405" cy="2250624"/>
          </a:xfrm>
          <a:prstGeom prst="roundRect">
            <a:avLst>
              <a:gd name="adj" fmla="val 9028"/>
            </a:avLst>
          </a:prstGeom>
          <a:solidFill>
            <a:srgbClr val="000000">
              <a:alpha val="0"/>
            </a:srgbClr>
          </a:solidFill>
          <a:ln w="12700">
            <a:solidFill>
              <a:srgbClr val="0F172A">
                <a:alpha val="18000"/>
              </a:srgbClr>
            </a:solidFill>
            <a:prstDash val="solid"/>
          </a:ln>
        </p:spPr>
      </p:sp>
      <p:sp>
        <p:nvSpPr>
          <p:cNvPr id="5" name="Shape 3"/>
          <p:cNvSpPr/>
          <p:nvPr/>
        </p:nvSpPr>
        <p:spPr>
          <a:xfrm>
            <a:off x="6189309" y="3839866"/>
            <a:ext cx="5240405" cy="2250624"/>
          </a:xfrm>
          <a:prstGeom prst="roundRect">
            <a:avLst>
              <a:gd name="adj" fmla="val 9028"/>
            </a:avLst>
          </a:prstGeom>
          <a:solidFill>
            <a:srgbClr val="000000">
              <a:alpha val="0"/>
            </a:srgbClr>
          </a:solidFill>
          <a:ln w="12700">
            <a:solidFill>
              <a:srgbClr val="0F172A">
                <a:alpha val="18000"/>
              </a:srgbClr>
            </a:solidFill>
            <a:prstDash val="solid"/>
          </a:ln>
        </p:spPr>
      </p:sp>
      <p:sp>
        <p:nvSpPr>
          <p:cNvPr id="6" name="Text 4"/>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Complete Business Story Summary
</a:t>
            </a:r>
            <a:endParaRPr lang="en-US" sz="2900" dirty="0"/>
          </a:p>
        </p:txBody>
      </p:sp>
      <p:sp>
        <p:nvSpPr>
          <p:cNvPr id="7" name="Text 5"/>
          <p:cNvSpPr/>
          <p:nvPr/>
        </p:nvSpPr>
        <p:spPr>
          <a:xfrm>
            <a:off x="1021134" y="2187719"/>
            <a:ext cx="4722099" cy="233553"/>
          </a:xfrm>
          <a:prstGeom prst="rect">
            <a:avLst/>
          </a:prstGeom>
          <a:noFill/>
          <a:ln/>
        </p:spPr>
        <p:txBody>
          <a:bodyPr wrap="square" lIns="1016" tIns="1016" rIns="1016" bIns="1016" rtlCol="0" anchor="t"/>
          <a:lstStyle/>
          <a:p>
            <a:pPr indent="0" marL="0">
              <a:lnSpc>
                <a:spcPct val="122713"/>
              </a:lnSpc>
              <a:buNone/>
            </a:pPr>
            <a:r>
              <a:rPr lang="en-US" sz="1400" b="1" dirty="0">
                <a:solidFill>
                  <a:srgbClr val="0F172A"/>
                </a:solidFill>
                <a:latin typeface="Segoe UI" pitchFamily="34" charset="0"/>
                <a:ea typeface="Segoe UI" pitchFamily="34" charset="-122"/>
                <a:cs typeface="Segoe UI" pitchFamily="34" charset="-120"/>
              </a:rPr>
              <a:t>Overall Performance Metrics
</a:t>
            </a:r>
            <a:endParaRPr lang="en-US" sz="1400" dirty="0"/>
          </a:p>
        </p:txBody>
      </p:sp>
      <p:sp>
        <p:nvSpPr>
          <p:cNvPr id="8" name="Text 6"/>
          <p:cNvSpPr/>
          <p:nvPr/>
        </p:nvSpPr>
        <p:spPr>
          <a:xfrm>
            <a:off x="1021134" y="2467907"/>
            <a:ext cx="4722099" cy="949298"/>
          </a:xfrm>
          <a:prstGeom prst="rect">
            <a:avLst/>
          </a:prstGeom>
          <a:noFill/>
          <a:ln/>
        </p:spPr>
        <p:txBody>
          <a:bodyPr wrap="square" lIns="1016" tIns="1016" rIns="1016" bIns="1016" rtlCol="0" anchor="t"/>
          <a:lstStyle/>
          <a:p>
            <a:pPr indent="0" marL="0">
              <a:lnSpc>
                <a:spcPct val="143716"/>
              </a:lnSpc>
              <a:buNone/>
            </a:pPr>
            <a:r>
              <a:rPr lang="en-US" sz="1200" dirty="0">
                <a:solidFill>
                  <a:srgbClr val="475569"/>
                </a:solidFill>
                <a:latin typeface="Segoe UI" pitchFamily="34" charset="0"/>
                <a:ea typeface="Segoe UI" pitchFamily="34" charset="-122"/>
                <a:cs typeface="Segoe UI" pitchFamily="34" charset="-120"/>
              </a:rPr>
              <a:t>Analyzed 12,205 sessions resulting in 1,908 conversions, achieving a conversion rate of 15.63%. This indicates strong engagement and potential for revenue growth through optimization.
</a:t>
            </a:r>
            <a:endParaRPr lang="en-US" sz="1200" dirty="0"/>
          </a:p>
        </p:txBody>
      </p:sp>
      <p:sp>
        <p:nvSpPr>
          <p:cNvPr id="9" name="Text 7"/>
          <p:cNvSpPr/>
          <p:nvPr/>
        </p:nvSpPr>
        <p:spPr>
          <a:xfrm>
            <a:off x="6448462" y="2187719"/>
            <a:ext cx="4722099" cy="233553"/>
          </a:xfrm>
          <a:prstGeom prst="rect">
            <a:avLst/>
          </a:prstGeom>
          <a:noFill/>
          <a:ln/>
        </p:spPr>
        <p:txBody>
          <a:bodyPr wrap="square" lIns="1016" tIns="1016" rIns="1016" bIns="1016" rtlCol="0" anchor="t"/>
          <a:lstStyle/>
          <a:p>
            <a:pPr indent="0" marL="0">
              <a:lnSpc>
                <a:spcPct val="122713"/>
              </a:lnSpc>
              <a:buNone/>
            </a:pPr>
            <a:r>
              <a:rPr lang="en-US" sz="1400" b="1" dirty="0">
                <a:solidFill>
                  <a:srgbClr val="0F172A"/>
                </a:solidFill>
                <a:latin typeface="Segoe UI" pitchFamily="34" charset="0"/>
                <a:ea typeface="Segoe UI" pitchFamily="34" charset="-122"/>
                <a:cs typeface="Segoe UI" pitchFamily="34" charset="-120"/>
              </a:rPr>
              <a:t>Seasonal Conversion Trends
</a:t>
            </a:r>
            <a:endParaRPr lang="en-US" sz="1400" dirty="0"/>
          </a:p>
        </p:txBody>
      </p:sp>
      <p:sp>
        <p:nvSpPr>
          <p:cNvPr id="10" name="Text 8"/>
          <p:cNvSpPr/>
          <p:nvPr/>
        </p:nvSpPr>
        <p:spPr>
          <a:xfrm>
            <a:off x="6448462" y="2467907"/>
            <a:ext cx="4722099" cy="949298"/>
          </a:xfrm>
          <a:prstGeom prst="rect">
            <a:avLst/>
          </a:prstGeom>
          <a:noFill/>
          <a:ln/>
        </p:spPr>
        <p:txBody>
          <a:bodyPr wrap="square" lIns="1016" tIns="1016" rIns="1016" bIns="1016" rtlCol="0" anchor="t"/>
          <a:lstStyle/>
          <a:p>
            <a:pPr indent="0" marL="0">
              <a:lnSpc>
                <a:spcPct val="143716"/>
              </a:lnSpc>
              <a:buNone/>
            </a:pPr>
            <a:r>
              <a:rPr lang="en-US" sz="1200" dirty="0">
                <a:solidFill>
                  <a:srgbClr val="475569"/>
                </a:solidFill>
                <a:latin typeface="Segoe UI" pitchFamily="34" charset="0"/>
                <a:ea typeface="Segoe UI" pitchFamily="34" charset="-122"/>
                <a:cs typeface="Segoe UI" pitchFamily="34" charset="-120"/>
              </a:rPr>
              <a:t>Conversion rates increase from February to November, peaking in November before declining in December. This seasonal pattern suggests opportunities for targeted marketing strategies during peak months.
</a:t>
            </a:r>
            <a:endParaRPr lang="en-US" sz="1200" dirty="0"/>
          </a:p>
        </p:txBody>
      </p:sp>
      <p:sp>
        <p:nvSpPr>
          <p:cNvPr id="11" name="Text 9"/>
          <p:cNvSpPr/>
          <p:nvPr/>
        </p:nvSpPr>
        <p:spPr>
          <a:xfrm>
            <a:off x="1021134" y="4625266"/>
            <a:ext cx="4722099" cy="233553"/>
          </a:xfrm>
          <a:prstGeom prst="rect">
            <a:avLst/>
          </a:prstGeom>
          <a:noFill/>
          <a:ln/>
        </p:spPr>
        <p:txBody>
          <a:bodyPr wrap="square" lIns="1016" tIns="1016" rIns="1016" bIns="1016" rtlCol="0" anchor="t"/>
          <a:lstStyle/>
          <a:p>
            <a:pPr indent="0" marL="0">
              <a:lnSpc>
                <a:spcPct val="122713"/>
              </a:lnSpc>
              <a:buNone/>
            </a:pPr>
            <a:r>
              <a:rPr lang="en-US" sz="1400" b="1" dirty="0">
                <a:solidFill>
                  <a:srgbClr val="0F172A"/>
                </a:solidFill>
                <a:latin typeface="Segoe UI" pitchFamily="34" charset="0"/>
                <a:ea typeface="Segoe UI" pitchFamily="34" charset="-122"/>
                <a:cs typeface="Segoe UI" pitchFamily="34" charset="-120"/>
              </a:rPr>
              <a:t>Traffic Quality Insights
</a:t>
            </a:r>
            <a:endParaRPr lang="en-US" sz="1400" dirty="0"/>
          </a:p>
        </p:txBody>
      </p:sp>
      <p:sp>
        <p:nvSpPr>
          <p:cNvPr id="12" name="Text 10"/>
          <p:cNvSpPr/>
          <p:nvPr/>
        </p:nvSpPr>
        <p:spPr>
          <a:xfrm>
            <a:off x="1021134" y="4905449"/>
            <a:ext cx="4722099" cy="711976"/>
          </a:xfrm>
          <a:prstGeom prst="rect">
            <a:avLst/>
          </a:prstGeom>
          <a:noFill/>
          <a:ln/>
        </p:spPr>
        <p:txBody>
          <a:bodyPr wrap="square" lIns="1016" tIns="1016" rIns="1016" bIns="1016" rtlCol="0" anchor="t"/>
          <a:lstStyle/>
          <a:p>
            <a:pPr indent="0" marL="0">
              <a:lnSpc>
                <a:spcPct val="143716"/>
              </a:lnSpc>
              <a:buNone/>
            </a:pPr>
            <a:r>
              <a:rPr lang="en-US" sz="1200" dirty="0">
                <a:solidFill>
                  <a:srgbClr val="475569"/>
                </a:solidFill>
                <a:latin typeface="Segoe UI" pitchFamily="34" charset="0"/>
                <a:ea typeface="Segoe UI" pitchFamily="34" charset="-122"/>
                <a:cs typeface="Segoe UI" pitchFamily="34" charset="-120"/>
              </a:rPr>
              <a:t>Traffic Type 16 shows a 33% conversion rate, while Type 13 only achieves 5%. This 28-point gap highlights the need to focus on high-quality traffic sources for better performance.
</a:t>
            </a:r>
            <a:endParaRPr lang="en-US" sz="1200" dirty="0"/>
          </a:p>
        </p:txBody>
      </p:sp>
      <p:sp>
        <p:nvSpPr>
          <p:cNvPr id="13" name="Text 11"/>
          <p:cNvSpPr/>
          <p:nvPr/>
        </p:nvSpPr>
        <p:spPr>
          <a:xfrm>
            <a:off x="6448462" y="4625266"/>
            <a:ext cx="4722099" cy="233553"/>
          </a:xfrm>
          <a:prstGeom prst="rect">
            <a:avLst/>
          </a:prstGeom>
          <a:noFill/>
          <a:ln/>
        </p:spPr>
        <p:txBody>
          <a:bodyPr wrap="square" lIns="1016" tIns="1016" rIns="1016" bIns="1016" rtlCol="0" anchor="t"/>
          <a:lstStyle/>
          <a:p>
            <a:pPr indent="0" marL="0">
              <a:lnSpc>
                <a:spcPct val="122713"/>
              </a:lnSpc>
              <a:buNone/>
            </a:pPr>
            <a:r>
              <a:rPr lang="en-US" sz="1400" b="1" dirty="0">
                <a:solidFill>
                  <a:srgbClr val="0F172A"/>
                </a:solidFill>
                <a:latin typeface="Segoe UI" pitchFamily="34" charset="0"/>
                <a:ea typeface="Segoe UI" pitchFamily="34" charset="-122"/>
                <a:cs typeface="Segoe UI" pitchFamily="34" charset="-120"/>
              </a:rPr>
              <a:t>Visitor Behavior Analysis
</a:t>
            </a:r>
            <a:endParaRPr lang="en-US" sz="1400" dirty="0"/>
          </a:p>
        </p:txBody>
      </p:sp>
      <p:sp>
        <p:nvSpPr>
          <p:cNvPr id="14" name="Text 12"/>
          <p:cNvSpPr/>
          <p:nvPr/>
        </p:nvSpPr>
        <p:spPr>
          <a:xfrm>
            <a:off x="6448462" y="4905449"/>
            <a:ext cx="4722099" cy="949303"/>
          </a:xfrm>
          <a:prstGeom prst="rect">
            <a:avLst/>
          </a:prstGeom>
          <a:noFill/>
          <a:ln/>
        </p:spPr>
        <p:txBody>
          <a:bodyPr wrap="square" lIns="1016" tIns="1016" rIns="1016" bIns="1016" rtlCol="0" anchor="t"/>
          <a:lstStyle/>
          <a:p>
            <a:pPr indent="0" marL="0">
              <a:lnSpc>
                <a:spcPct val="143716"/>
              </a:lnSpc>
              <a:buNone/>
            </a:pPr>
            <a:r>
              <a:rPr lang="en-US" sz="1200" dirty="0">
                <a:solidFill>
                  <a:srgbClr val="475569"/>
                </a:solidFill>
                <a:latin typeface="Segoe UI" pitchFamily="34" charset="0"/>
                <a:ea typeface="Segoe UI" pitchFamily="34" charset="-122"/>
                <a:cs typeface="Segoe UI" pitchFamily="34" charset="-120"/>
              </a:rPr>
              <a:t>New visitors convert at 24.93%, compared to 14.09% for returning visitors. This discrepancy indicates a need for strategies to enhance returning visitor engagement and conversion.
</a:t>
            </a:r>
            <a:endParaRPr lang="en-US" sz="1200" dirty="0"/>
          </a:p>
        </p:txBody>
      </p:sp>
      <p:sp>
        <p:nvSpPr>
          <p:cNvPr id="15" name="Shape 13"/>
          <p:cNvSpPr/>
          <p:nvPr/>
        </p:nvSpPr>
        <p:spPr>
          <a:xfrm>
            <a:off x="1008434" y="1625359"/>
            <a:ext cx="397262" cy="397265"/>
          </a:xfrm>
          <a:prstGeom prst="roundRect">
            <a:avLst>
              <a:gd name="adj" fmla="val 25000"/>
            </a:avLst>
          </a:prstGeom>
          <a:solidFill>
            <a:srgbClr val="7C3AED">
              <a:alpha val="10000"/>
            </a:srgbClr>
          </a:solidFill>
          <a:ln/>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896" y="1718823"/>
            <a:ext cx="210338" cy="210338"/>
          </a:xfrm>
          <a:prstGeom prst="rect">
            <a:avLst/>
          </a:prstGeom>
        </p:spPr>
      </p:pic>
      <p:sp>
        <p:nvSpPr>
          <p:cNvPr id="17" name="Shape 14"/>
          <p:cNvSpPr/>
          <p:nvPr/>
        </p:nvSpPr>
        <p:spPr>
          <a:xfrm>
            <a:off x="6435763" y="1625359"/>
            <a:ext cx="397262" cy="397265"/>
          </a:xfrm>
          <a:prstGeom prst="roundRect">
            <a:avLst>
              <a:gd name="adj" fmla="val 25000"/>
            </a:avLst>
          </a:prstGeom>
          <a:solidFill>
            <a:srgbClr val="8B5CF6">
              <a:alpha val="10000"/>
            </a:srgbClr>
          </a:solidFill>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9224" y="1718823"/>
            <a:ext cx="210338" cy="210338"/>
          </a:xfrm>
          <a:prstGeom prst="rect">
            <a:avLst/>
          </a:prstGeom>
        </p:spPr>
      </p:pic>
      <p:sp>
        <p:nvSpPr>
          <p:cNvPr id="19" name="Shape 15"/>
          <p:cNvSpPr/>
          <p:nvPr/>
        </p:nvSpPr>
        <p:spPr>
          <a:xfrm>
            <a:off x="1008434" y="4062906"/>
            <a:ext cx="397262" cy="397260"/>
          </a:xfrm>
          <a:prstGeom prst="roundRect">
            <a:avLst>
              <a:gd name="adj" fmla="val 25000"/>
            </a:avLst>
          </a:prstGeom>
          <a:solidFill>
            <a:srgbClr val="7C3AED">
              <a:alpha val="10000"/>
            </a:srgbClr>
          </a:solidFill>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1897" y="4156368"/>
            <a:ext cx="210337" cy="210337"/>
          </a:xfrm>
          <a:prstGeom prst="rect">
            <a:avLst/>
          </a:prstGeom>
        </p:spPr>
      </p:pic>
      <p:sp>
        <p:nvSpPr>
          <p:cNvPr id="21" name="Shape 16"/>
          <p:cNvSpPr/>
          <p:nvPr/>
        </p:nvSpPr>
        <p:spPr>
          <a:xfrm>
            <a:off x="6435763" y="4062906"/>
            <a:ext cx="397262" cy="397260"/>
          </a:xfrm>
          <a:prstGeom prst="roundRect">
            <a:avLst>
              <a:gd name="adj" fmla="val 25000"/>
            </a:avLst>
          </a:prstGeom>
          <a:solidFill>
            <a:srgbClr val="7C3AED">
              <a:alpha val="10000"/>
            </a:srgbClr>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29225" y="4156368"/>
            <a:ext cx="210337" cy="210337"/>
          </a:xfrm>
          <a:prstGeom prst="rect">
            <a:avLst/>
          </a:prstGeom>
        </p:spPr>
      </p:pic>
      <p:sp>
        <p:nvSpPr>
          <p:cNvPr id="23" name="Text 17"/>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Action Items vs. Challenges
</a:t>
            </a:r>
            <a:endParaRPr lang="en-US" sz="2900" dirty="0"/>
          </a:p>
        </p:txBody>
      </p:sp>
      <p:sp>
        <p:nvSpPr>
          <p:cNvPr id="3" name="Text 1"/>
          <p:cNvSpPr/>
          <p:nvPr/>
        </p:nvSpPr>
        <p:spPr>
          <a:xfrm>
            <a:off x="761981" y="1920829"/>
            <a:ext cx="5079873" cy="317490"/>
          </a:xfrm>
          <a:prstGeom prst="rect">
            <a:avLst/>
          </a:prstGeom>
          <a:noFill/>
          <a:ln/>
        </p:spPr>
        <p:txBody>
          <a:bodyPr wrap="square" lIns="1016" tIns="1016" rIns="1016" bIns="1016" rtlCol="0" anchor="t"/>
          <a:lstStyle/>
          <a:p>
            <a:pPr algn="l" indent="0" marL="0">
              <a:lnSpc>
                <a:spcPct val="125000"/>
              </a:lnSpc>
              <a:buNone/>
            </a:pPr>
            <a:r>
              <a:rPr lang="en-US" sz="1800" b="1" dirty="0">
                <a:solidFill>
                  <a:srgbClr val="7C3AED"/>
                </a:solidFill>
                <a:latin typeface="Segoe UI" pitchFamily="34" charset="0"/>
                <a:ea typeface="Segoe UI" pitchFamily="34" charset="-122"/>
                <a:cs typeface="Segoe UI" pitchFamily="34" charset="-120"/>
              </a:rPr>
              <a:t>Proposed Actions
</a:t>
            </a:r>
            <a:endParaRPr lang="en-US" sz="1800" dirty="0"/>
          </a:p>
        </p:txBody>
      </p:sp>
      <p:sp>
        <p:nvSpPr>
          <p:cNvPr id="4" name="Text 2"/>
          <p:cNvSpPr/>
          <p:nvPr/>
        </p:nvSpPr>
        <p:spPr>
          <a:xfrm>
            <a:off x="1003275" y="2390715"/>
            <a:ext cx="4657807"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Investigate Traffic Type 16 for scaling opportunities.
</a:t>
            </a:r>
            <a:endParaRPr lang="en-US" sz="1400" dirty="0"/>
          </a:p>
        </p:txBody>
      </p:sp>
      <p:sp>
        <p:nvSpPr>
          <p:cNvPr id="5" name="Text 3"/>
          <p:cNvSpPr/>
          <p:nvPr/>
        </p:nvSpPr>
        <p:spPr>
          <a:xfrm>
            <a:off x="1003275" y="2828854"/>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Explore why returning visitors show lower conversion rates.
</a:t>
            </a:r>
            <a:endParaRPr lang="en-US" sz="1400" dirty="0"/>
          </a:p>
        </p:txBody>
      </p:sp>
      <p:sp>
        <p:nvSpPr>
          <p:cNvPr id="6" name="Text 4"/>
          <p:cNvSpPr/>
          <p:nvPr/>
        </p:nvSpPr>
        <p:spPr>
          <a:xfrm>
            <a:off x="1003275" y="3552736"/>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Analyze seasonal trends to optimize campaign timing.
</a:t>
            </a:r>
            <a:endParaRPr lang="en-US" sz="1400" dirty="0"/>
          </a:p>
        </p:txBody>
      </p:sp>
      <p:sp>
        <p:nvSpPr>
          <p:cNvPr id="7" name="Text 5"/>
          <p:cNvSpPr/>
          <p:nvPr/>
        </p:nvSpPr>
        <p:spPr>
          <a:xfrm>
            <a:off x="1003275" y="4276618"/>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Implement personalized recommendations for returning visitors.
</a:t>
            </a:r>
            <a:endParaRPr lang="en-US" sz="1400" dirty="0"/>
          </a:p>
        </p:txBody>
      </p:sp>
      <p:sp>
        <p:nvSpPr>
          <p:cNvPr id="8" name="Text 6"/>
          <p:cNvSpPr/>
          <p:nvPr/>
        </p:nvSpPr>
        <p:spPr>
          <a:xfrm>
            <a:off x="1003275" y="5000500"/>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Test remarketing campaigns to boost conversion rates.
</a:t>
            </a:r>
            <a:endParaRPr lang="en-US" sz="1400" dirty="0"/>
          </a:p>
        </p:txBody>
      </p:sp>
      <p:sp>
        <p:nvSpPr>
          <p:cNvPr id="9" name="Text 7"/>
          <p:cNvSpPr/>
          <p:nvPr/>
        </p:nvSpPr>
        <p:spPr>
          <a:xfrm>
            <a:off x="6349841" y="1920829"/>
            <a:ext cx="5079873" cy="317490"/>
          </a:xfrm>
          <a:prstGeom prst="rect">
            <a:avLst/>
          </a:prstGeom>
          <a:noFill/>
          <a:ln/>
        </p:spPr>
        <p:txBody>
          <a:bodyPr wrap="square" lIns="1016" tIns="1016" rIns="1016" bIns="1016" rtlCol="0" anchor="t"/>
          <a:lstStyle/>
          <a:p>
            <a:pPr algn="l" indent="0" marL="0">
              <a:lnSpc>
                <a:spcPct val="125000"/>
              </a:lnSpc>
              <a:buNone/>
            </a:pPr>
            <a:r>
              <a:rPr lang="en-US" sz="1800" b="1" dirty="0">
                <a:solidFill>
                  <a:srgbClr val="8B5CF6"/>
                </a:solidFill>
                <a:latin typeface="Segoe UI" pitchFamily="34" charset="0"/>
                <a:ea typeface="Segoe UI" pitchFamily="34" charset="-122"/>
                <a:cs typeface="Segoe UI" pitchFamily="34" charset="-120"/>
              </a:rPr>
              <a:t>Identified Challenges
</a:t>
            </a:r>
            <a:endParaRPr lang="en-US" sz="1800" dirty="0"/>
          </a:p>
        </p:txBody>
      </p:sp>
      <p:sp>
        <p:nvSpPr>
          <p:cNvPr id="10" name="Text 8"/>
          <p:cNvSpPr/>
          <p:nvPr/>
        </p:nvSpPr>
        <p:spPr>
          <a:xfrm>
            <a:off x="6591135" y="2390715"/>
            <a:ext cx="4809409"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Address AI evaluation challenges to ensure accuracy.
</a:t>
            </a:r>
            <a:endParaRPr lang="en-US" sz="1400" dirty="0"/>
          </a:p>
        </p:txBody>
      </p:sp>
      <p:sp>
        <p:nvSpPr>
          <p:cNvPr id="11" name="Text 9"/>
          <p:cNvSpPr/>
          <p:nvPr/>
        </p:nvSpPr>
        <p:spPr>
          <a:xfrm>
            <a:off x="6591135" y="2828854"/>
            <a:ext cx="4720710"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Ensure data quality and integrity for reliable insights.
</a:t>
            </a:r>
            <a:endParaRPr lang="en-US" sz="1400" dirty="0"/>
          </a:p>
        </p:txBody>
      </p:sp>
      <p:sp>
        <p:nvSpPr>
          <p:cNvPr id="12" name="Text 10"/>
          <p:cNvSpPr/>
          <p:nvPr/>
        </p:nvSpPr>
        <p:spPr>
          <a:xfrm>
            <a:off x="6591135" y="3266993"/>
            <a:ext cx="4812386"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Manage integration complexity with existing systems.
</a:t>
            </a:r>
            <a:endParaRPr lang="en-US" sz="1400" dirty="0"/>
          </a:p>
        </p:txBody>
      </p:sp>
      <p:sp>
        <p:nvSpPr>
          <p:cNvPr id="13" name="Text 11"/>
          <p:cNvSpPr/>
          <p:nvPr/>
        </p:nvSpPr>
        <p:spPr>
          <a:xfrm>
            <a:off x="6591135" y="3705132"/>
            <a:ext cx="4775675"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Validate the business impact of AI recommendations.
</a:t>
            </a:r>
            <a:endParaRPr lang="en-US" sz="1400" dirty="0"/>
          </a:p>
        </p:txBody>
      </p:sp>
      <p:sp>
        <p:nvSpPr>
          <p:cNvPr id="14" name="Text 12"/>
          <p:cNvSpPr/>
          <p:nvPr/>
        </p:nvSpPr>
        <p:spPr>
          <a:xfrm>
            <a:off x="6591135" y="4143271"/>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Mitigate risks related to data protection and GDPR compliance.
</a:t>
            </a:r>
            <a:endParaRPr lang="en-US" sz="1400" dirty="0"/>
          </a:p>
        </p:txBody>
      </p:sp>
      <p:sp>
        <p:nvSpPr>
          <p:cNvPr id="15" name="Shape 13"/>
          <p:cNvSpPr/>
          <p:nvPr/>
        </p:nvSpPr>
        <p:spPr>
          <a:xfrm>
            <a:off x="761981" y="2492314"/>
            <a:ext cx="88898" cy="88896"/>
          </a:xfrm>
          <a:prstGeom prst="ellipse">
            <a:avLst/>
          </a:prstGeom>
          <a:solidFill>
            <a:srgbClr val="7C3AED"/>
          </a:solidFill>
          <a:ln/>
        </p:spPr>
      </p:sp>
      <p:sp>
        <p:nvSpPr>
          <p:cNvPr id="16" name="Shape 14"/>
          <p:cNvSpPr/>
          <p:nvPr/>
        </p:nvSpPr>
        <p:spPr>
          <a:xfrm>
            <a:off x="761981" y="2930454"/>
            <a:ext cx="88898" cy="88896"/>
          </a:xfrm>
          <a:prstGeom prst="ellipse">
            <a:avLst/>
          </a:prstGeom>
          <a:solidFill>
            <a:srgbClr val="7C3AED"/>
          </a:solidFill>
          <a:ln/>
        </p:spPr>
      </p:sp>
      <p:sp>
        <p:nvSpPr>
          <p:cNvPr id="17" name="Shape 15"/>
          <p:cNvSpPr/>
          <p:nvPr/>
        </p:nvSpPr>
        <p:spPr>
          <a:xfrm>
            <a:off x="761981" y="3654335"/>
            <a:ext cx="88898" cy="88896"/>
          </a:xfrm>
          <a:prstGeom prst="ellipse">
            <a:avLst/>
          </a:prstGeom>
          <a:solidFill>
            <a:srgbClr val="7C3AED"/>
          </a:solidFill>
          <a:ln/>
        </p:spPr>
      </p:sp>
      <p:sp>
        <p:nvSpPr>
          <p:cNvPr id="18" name="Shape 16"/>
          <p:cNvSpPr/>
          <p:nvPr/>
        </p:nvSpPr>
        <p:spPr>
          <a:xfrm>
            <a:off x="761981" y="4378217"/>
            <a:ext cx="88898" cy="88896"/>
          </a:xfrm>
          <a:prstGeom prst="ellipse">
            <a:avLst/>
          </a:prstGeom>
          <a:solidFill>
            <a:srgbClr val="7C3AED"/>
          </a:solidFill>
          <a:ln/>
        </p:spPr>
      </p:sp>
      <p:sp>
        <p:nvSpPr>
          <p:cNvPr id="19" name="Shape 17"/>
          <p:cNvSpPr/>
          <p:nvPr/>
        </p:nvSpPr>
        <p:spPr>
          <a:xfrm>
            <a:off x="761981" y="5102099"/>
            <a:ext cx="88898" cy="88896"/>
          </a:xfrm>
          <a:prstGeom prst="ellipse">
            <a:avLst/>
          </a:prstGeom>
          <a:solidFill>
            <a:srgbClr val="7C3AED"/>
          </a:solidFill>
          <a:ln/>
        </p:spPr>
      </p:sp>
      <p:sp>
        <p:nvSpPr>
          <p:cNvPr id="20" name="Shape 18"/>
          <p:cNvSpPr/>
          <p:nvPr/>
        </p:nvSpPr>
        <p:spPr>
          <a:xfrm>
            <a:off x="6349841" y="2492314"/>
            <a:ext cx="88898" cy="88896"/>
          </a:xfrm>
          <a:prstGeom prst="ellipse">
            <a:avLst/>
          </a:prstGeom>
          <a:solidFill>
            <a:srgbClr val="8B5CF6"/>
          </a:solidFill>
          <a:ln/>
        </p:spPr>
      </p:sp>
      <p:sp>
        <p:nvSpPr>
          <p:cNvPr id="21" name="Shape 19"/>
          <p:cNvSpPr/>
          <p:nvPr/>
        </p:nvSpPr>
        <p:spPr>
          <a:xfrm>
            <a:off x="6349841" y="2930454"/>
            <a:ext cx="88898" cy="88896"/>
          </a:xfrm>
          <a:prstGeom prst="ellipse">
            <a:avLst/>
          </a:prstGeom>
          <a:solidFill>
            <a:srgbClr val="8B5CF6"/>
          </a:solidFill>
          <a:ln/>
        </p:spPr>
      </p:sp>
      <p:sp>
        <p:nvSpPr>
          <p:cNvPr id="22" name="Shape 20"/>
          <p:cNvSpPr/>
          <p:nvPr/>
        </p:nvSpPr>
        <p:spPr>
          <a:xfrm>
            <a:off x="6349841" y="3368593"/>
            <a:ext cx="88898" cy="88896"/>
          </a:xfrm>
          <a:prstGeom prst="ellipse">
            <a:avLst/>
          </a:prstGeom>
          <a:solidFill>
            <a:srgbClr val="8B5CF6"/>
          </a:solidFill>
          <a:ln/>
        </p:spPr>
      </p:sp>
      <p:sp>
        <p:nvSpPr>
          <p:cNvPr id="23" name="Shape 21"/>
          <p:cNvSpPr/>
          <p:nvPr/>
        </p:nvSpPr>
        <p:spPr>
          <a:xfrm>
            <a:off x="6349841" y="3806732"/>
            <a:ext cx="88898" cy="88896"/>
          </a:xfrm>
          <a:prstGeom prst="ellipse">
            <a:avLst/>
          </a:prstGeom>
          <a:solidFill>
            <a:srgbClr val="8B5CF6"/>
          </a:solidFill>
          <a:ln/>
        </p:spPr>
      </p:sp>
      <p:sp>
        <p:nvSpPr>
          <p:cNvPr id="24" name="Shape 22"/>
          <p:cNvSpPr/>
          <p:nvPr/>
        </p:nvSpPr>
        <p:spPr>
          <a:xfrm>
            <a:off x="6349841" y="4244871"/>
            <a:ext cx="88898" cy="88896"/>
          </a:xfrm>
          <a:prstGeom prst="ellipse">
            <a:avLst/>
          </a:prstGeom>
          <a:solidFill>
            <a:srgbClr val="8B5CF6"/>
          </a:solidFill>
          <a:ln/>
        </p:spPr>
      </p:sp>
      <p:sp>
        <p:nvSpPr>
          <p:cNvPr id="25" name="Text 2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61981" y="1404706"/>
            <a:ext cx="10667733" cy="1056850"/>
          </a:xfrm>
          <a:prstGeom prst="roundRect">
            <a:avLst>
              <a:gd name="adj" fmla="val 16823"/>
            </a:avLst>
          </a:prstGeom>
          <a:solidFill>
            <a:srgbClr val="000000">
              <a:alpha val="0"/>
            </a:srgbClr>
          </a:solidFill>
          <a:ln w="12700">
            <a:solidFill>
              <a:srgbClr val="0F172A">
                <a:alpha val="18000"/>
              </a:srgbClr>
            </a:solidFill>
            <a:prstDash val="solid"/>
          </a:ln>
        </p:spPr>
      </p:sp>
      <p:sp>
        <p:nvSpPr>
          <p:cNvPr id="3" name="Shape 1"/>
          <p:cNvSpPr/>
          <p:nvPr/>
        </p:nvSpPr>
        <p:spPr>
          <a:xfrm>
            <a:off x="761981" y="2613553"/>
            <a:ext cx="10667733" cy="1056855"/>
          </a:xfrm>
          <a:prstGeom prst="roundRect">
            <a:avLst>
              <a:gd name="adj" fmla="val 16823"/>
            </a:avLst>
          </a:prstGeom>
          <a:solidFill>
            <a:srgbClr val="000000">
              <a:alpha val="0"/>
            </a:srgbClr>
          </a:solidFill>
          <a:ln w="12700">
            <a:solidFill>
              <a:srgbClr val="0F172A">
                <a:alpha val="18000"/>
              </a:srgbClr>
            </a:solidFill>
            <a:prstDash val="solid"/>
          </a:ln>
        </p:spPr>
      </p:sp>
      <p:sp>
        <p:nvSpPr>
          <p:cNvPr id="4" name="Shape 2"/>
          <p:cNvSpPr/>
          <p:nvPr/>
        </p:nvSpPr>
        <p:spPr>
          <a:xfrm>
            <a:off x="761981" y="3822406"/>
            <a:ext cx="10667733" cy="1056850"/>
          </a:xfrm>
          <a:prstGeom prst="roundRect">
            <a:avLst>
              <a:gd name="adj" fmla="val 16823"/>
            </a:avLst>
          </a:prstGeom>
          <a:solidFill>
            <a:srgbClr val="000000">
              <a:alpha val="0"/>
            </a:srgbClr>
          </a:solidFill>
          <a:ln w="12700">
            <a:solidFill>
              <a:srgbClr val="0F172A">
                <a:alpha val="18000"/>
              </a:srgbClr>
            </a:solidFill>
            <a:prstDash val="solid"/>
          </a:ln>
        </p:spPr>
      </p:sp>
      <p:sp>
        <p:nvSpPr>
          <p:cNvPr id="5" name="Shape 3"/>
          <p:cNvSpPr/>
          <p:nvPr/>
        </p:nvSpPr>
        <p:spPr>
          <a:xfrm>
            <a:off x="761981" y="5031259"/>
            <a:ext cx="10667733" cy="1056850"/>
          </a:xfrm>
          <a:prstGeom prst="roundRect">
            <a:avLst>
              <a:gd name="adj" fmla="val 16823"/>
            </a:avLst>
          </a:prstGeom>
          <a:solidFill>
            <a:srgbClr val="000000">
              <a:alpha val="0"/>
            </a:srgbClr>
          </a:solidFill>
          <a:ln w="12700">
            <a:solidFill>
              <a:srgbClr val="0F172A">
                <a:alpha val="18000"/>
              </a:srgbClr>
            </a:solidFill>
            <a:prstDash val="solid"/>
          </a:ln>
        </p:spPr>
      </p:sp>
      <p:sp>
        <p:nvSpPr>
          <p:cNvPr id="6" name="Text 4"/>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Frequently Asked Questions
</a:t>
            </a:r>
            <a:endParaRPr lang="en-US" sz="2900" dirty="0"/>
          </a:p>
        </p:txBody>
      </p:sp>
      <p:sp>
        <p:nvSpPr>
          <p:cNvPr id="7" name="Text 5"/>
          <p:cNvSpPr/>
          <p:nvPr/>
        </p:nvSpPr>
        <p:spPr>
          <a:xfrm>
            <a:off x="1395774" y="1582104"/>
            <a:ext cx="9834713" cy="217284"/>
          </a:xfrm>
          <a:prstGeom prst="rect">
            <a:avLst/>
          </a:prstGeom>
          <a:noFill/>
          <a:ln/>
        </p:spPr>
        <p:txBody>
          <a:bodyPr wrap="square" lIns="1016" tIns="1016" rIns="1016" bIns="1016" rtlCol="0" anchor="t"/>
          <a:lstStyle/>
          <a:p>
            <a:pPr indent="0" marL="0">
              <a:lnSpc>
                <a:spcPct val="122263"/>
              </a:lnSpc>
              <a:buNone/>
            </a:pPr>
            <a:r>
              <a:rPr lang="en-US" sz="1300" b="1" dirty="0">
                <a:solidFill>
                  <a:srgbClr val="0F172A"/>
                </a:solidFill>
                <a:latin typeface="Segoe UI" pitchFamily="34" charset="0"/>
                <a:ea typeface="Segoe UI" pitchFamily="34" charset="-122"/>
                <a:cs typeface="Segoe UI" pitchFamily="34" charset="-120"/>
              </a:rPr>
              <a:t>How will AI decisions be monitored?
</a:t>
            </a:r>
            <a:endParaRPr lang="en-US" sz="1300" dirty="0"/>
          </a:p>
        </p:txBody>
      </p:sp>
      <p:sp>
        <p:nvSpPr>
          <p:cNvPr id="8" name="Text 6"/>
          <p:cNvSpPr/>
          <p:nvPr/>
        </p:nvSpPr>
        <p:spPr>
          <a:xfrm>
            <a:off x="1395774" y="1842845"/>
            <a:ext cx="9834713" cy="441312"/>
          </a:xfrm>
          <a:prstGeom prst="rect">
            <a:avLst/>
          </a:prstGeom>
          <a:noFill/>
          <a:ln/>
        </p:spPr>
        <p:txBody>
          <a:bodyPr wrap="square" lIns="1016" tIns="1016" rIns="1016" bIns="1016" rtlCol="0" anchor="t"/>
          <a:lstStyle/>
          <a:p>
            <a:pPr indent="0" marL="0">
              <a:lnSpc>
                <a:spcPct val="144780"/>
              </a:lnSpc>
              <a:buNone/>
            </a:pPr>
            <a:r>
              <a:rPr lang="en-US" sz="1100" dirty="0">
                <a:solidFill>
                  <a:srgbClr val="475569"/>
                </a:solidFill>
                <a:latin typeface="Segoe UI" pitchFamily="34" charset="0"/>
                <a:ea typeface="Segoe UI" pitchFamily="34" charset="-122"/>
                <a:cs typeface="Segoe UI" pitchFamily="34" charset="-120"/>
              </a:rPr>
              <a:t>AI decisions will be monitored through LangSmith, which evaluates correctness, latency, and potential hallucinations to ensure transparency and reliability.
</a:t>
            </a:r>
            <a:endParaRPr lang="en-US" sz="1100" dirty="0"/>
          </a:p>
        </p:txBody>
      </p:sp>
      <p:sp>
        <p:nvSpPr>
          <p:cNvPr id="9" name="Text 7"/>
          <p:cNvSpPr/>
          <p:nvPr/>
        </p:nvSpPr>
        <p:spPr>
          <a:xfrm>
            <a:off x="1395774" y="2790952"/>
            <a:ext cx="9834713" cy="217284"/>
          </a:xfrm>
          <a:prstGeom prst="rect">
            <a:avLst/>
          </a:prstGeom>
          <a:noFill/>
          <a:ln/>
        </p:spPr>
        <p:txBody>
          <a:bodyPr wrap="square" lIns="1016" tIns="1016" rIns="1016" bIns="1016" rtlCol="0" anchor="t"/>
          <a:lstStyle/>
          <a:p>
            <a:pPr indent="0" marL="0">
              <a:lnSpc>
                <a:spcPct val="122263"/>
              </a:lnSpc>
              <a:buNone/>
            </a:pPr>
            <a:r>
              <a:rPr lang="en-US" sz="1300" b="1" dirty="0">
                <a:solidFill>
                  <a:srgbClr val="0F172A"/>
                </a:solidFill>
                <a:latin typeface="Segoe UI" pitchFamily="34" charset="0"/>
                <a:ea typeface="Segoe UI" pitchFamily="34" charset="-122"/>
                <a:cs typeface="Segoe UI" pitchFamily="34" charset="-120"/>
              </a:rPr>
              <a:t>What safeguards are in place for data privacy?
</a:t>
            </a:r>
            <a:endParaRPr lang="en-US" sz="1300" dirty="0"/>
          </a:p>
        </p:txBody>
      </p:sp>
      <p:sp>
        <p:nvSpPr>
          <p:cNvPr id="10" name="Text 8"/>
          <p:cNvSpPr/>
          <p:nvPr/>
        </p:nvSpPr>
        <p:spPr>
          <a:xfrm>
            <a:off x="1395774" y="3051692"/>
            <a:ext cx="9834713" cy="441318"/>
          </a:xfrm>
          <a:prstGeom prst="rect">
            <a:avLst/>
          </a:prstGeom>
          <a:noFill/>
          <a:ln/>
        </p:spPr>
        <p:txBody>
          <a:bodyPr wrap="square" lIns="1016" tIns="1016" rIns="1016" bIns="1016" rtlCol="0" anchor="t"/>
          <a:lstStyle/>
          <a:p>
            <a:pPr indent="0" marL="0">
              <a:lnSpc>
                <a:spcPct val="144780"/>
              </a:lnSpc>
              <a:buNone/>
            </a:pPr>
            <a:r>
              <a:rPr lang="en-US" sz="1100" dirty="0">
                <a:solidFill>
                  <a:srgbClr val="475569"/>
                </a:solidFill>
                <a:latin typeface="Segoe UI" pitchFamily="34" charset="0"/>
                <a:ea typeface="Segoe UI" pitchFamily="34" charset="-122"/>
                <a:cs typeface="Segoe UI" pitchFamily="34" charset="-120"/>
              </a:rPr>
              <a:t>We adhere to GDPR compliance and implement strict data protection measures to ensure that all customer information is handled securely and responsibly.
</a:t>
            </a:r>
            <a:endParaRPr lang="en-US" sz="1100" dirty="0"/>
          </a:p>
        </p:txBody>
      </p:sp>
      <p:sp>
        <p:nvSpPr>
          <p:cNvPr id="11" name="Text 9"/>
          <p:cNvSpPr/>
          <p:nvPr/>
        </p:nvSpPr>
        <p:spPr>
          <a:xfrm>
            <a:off x="1395774" y="3999805"/>
            <a:ext cx="9834713" cy="217284"/>
          </a:xfrm>
          <a:prstGeom prst="rect">
            <a:avLst/>
          </a:prstGeom>
          <a:noFill/>
          <a:ln/>
        </p:spPr>
        <p:txBody>
          <a:bodyPr wrap="square" lIns="1016" tIns="1016" rIns="1016" bIns="1016" rtlCol="0" anchor="t"/>
          <a:lstStyle/>
          <a:p>
            <a:pPr indent="0" marL="0">
              <a:lnSpc>
                <a:spcPct val="122263"/>
              </a:lnSpc>
              <a:buNone/>
            </a:pPr>
            <a:r>
              <a:rPr lang="en-US" sz="1300" b="1" dirty="0">
                <a:solidFill>
                  <a:srgbClr val="0F172A"/>
                </a:solidFill>
                <a:latin typeface="Segoe UI" pitchFamily="34" charset="0"/>
                <a:ea typeface="Segoe UI" pitchFamily="34" charset="-122"/>
                <a:cs typeface="Segoe UI" pitchFamily="34" charset="-120"/>
              </a:rPr>
              <a:t>What metrics will define success in the pilot?
</a:t>
            </a:r>
            <a:endParaRPr lang="en-US" sz="1300" dirty="0"/>
          </a:p>
        </p:txBody>
      </p:sp>
      <p:sp>
        <p:nvSpPr>
          <p:cNvPr id="12" name="Text 10"/>
          <p:cNvSpPr/>
          <p:nvPr/>
        </p:nvSpPr>
        <p:spPr>
          <a:xfrm>
            <a:off x="1395774" y="4260545"/>
            <a:ext cx="9834713" cy="441312"/>
          </a:xfrm>
          <a:prstGeom prst="rect">
            <a:avLst/>
          </a:prstGeom>
          <a:noFill/>
          <a:ln/>
        </p:spPr>
        <p:txBody>
          <a:bodyPr wrap="square" lIns="1016" tIns="1016" rIns="1016" bIns="1016" rtlCol="0" anchor="t"/>
          <a:lstStyle/>
          <a:p>
            <a:pPr indent="0" marL="0">
              <a:lnSpc>
                <a:spcPct val="144780"/>
              </a:lnSpc>
              <a:buNone/>
            </a:pPr>
            <a:r>
              <a:rPr lang="en-US" sz="1100" dirty="0">
                <a:solidFill>
                  <a:srgbClr val="475569"/>
                </a:solidFill>
                <a:latin typeface="Segoe UI" pitchFamily="34" charset="0"/>
                <a:ea typeface="Segoe UI" pitchFamily="34" charset="-122"/>
                <a:cs typeface="Segoe UI" pitchFamily="34" charset="-120"/>
              </a:rPr>
              <a:t>Success will be measured by the increase in conversion rates, the accuracy of AI recommendations, and the overall revenue recovery from non-converting sessions.
</a:t>
            </a:r>
            <a:endParaRPr lang="en-US" sz="1100" dirty="0"/>
          </a:p>
        </p:txBody>
      </p:sp>
      <p:sp>
        <p:nvSpPr>
          <p:cNvPr id="13" name="Text 11"/>
          <p:cNvSpPr/>
          <p:nvPr/>
        </p:nvSpPr>
        <p:spPr>
          <a:xfrm>
            <a:off x="1395774" y="5208657"/>
            <a:ext cx="9834713" cy="217284"/>
          </a:xfrm>
          <a:prstGeom prst="rect">
            <a:avLst/>
          </a:prstGeom>
          <a:noFill/>
          <a:ln/>
        </p:spPr>
        <p:txBody>
          <a:bodyPr wrap="square" lIns="1016" tIns="1016" rIns="1016" bIns="1016" rtlCol="0" anchor="t"/>
          <a:lstStyle/>
          <a:p>
            <a:pPr indent="0" marL="0">
              <a:lnSpc>
                <a:spcPct val="122263"/>
              </a:lnSpc>
              <a:buNone/>
            </a:pPr>
            <a:r>
              <a:rPr lang="en-US" sz="1300" b="1" dirty="0">
                <a:solidFill>
                  <a:srgbClr val="0F172A"/>
                </a:solidFill>
                <a:latin typeface="Segoe UI" pitchFamily="34" charset="0"/>
                <a:ea typeface="Segoe UI" pitchFamily="34" charset="-122"/>
                <a:cs typeface="Segoe UI" pitchFamily="34" charset="-120"/>
              </a:rPr>
              <a:t>How will we optimize based on pilot results?
</a:t>
            </a:r>
            <a:endParaRPr lang="en-US" sz="1300" dirty="0"/>
          </a:p>
        </p:txBody>
      </p:sp>
      <p:sp>
        <p:nvSpPr>
          <p:cNvPr id="14" name="Text 12"/>
          <p:cNvSpPr/>
          <p:nvPr/>
        </p:nvSpPr>
        <p:spPr>
          <a:xfrm>
            <a:off x="1395774" y="5469398"/>
            <a:ext cx="9834713" cy="441312"/>
          </a:xfrm>
          <a:prstGeom prst="rect">
            <a:avLst/>
          </a:prstGeom>
          <a:noFill/>
          <a:ln/>
        </p:spPr>
        <p:txBody>
          <a:bodyPr wrap="square" lIns="1016" tIns="1016" rIns="1016" bIns="1016" rtlCol="0" anchor="t"/>
          <a:lstStyle/>
          <a:p>
            <a:pPr indent="0" marL="0">
              <a:lnSpc>
                <a:spcPct val="144780"/>
              </a:lnSpc>
              <a:buNone/>
            </a:pPr>
            <a:r>
              <a:rPr lang="en-US" sz="1100" dirty="0">
                <a:solidFill>
                  <a:srgbClr val="475569"/>
                </a:solidFill>
                <a:latin typeface="Segoe UI" pitchFamily="34" charset="0"/>
                <a:ea typeface="Segoe UI" pitchFamily="34" charset="-122"/>
                <a:cs typeface="Segoe UI" pitchFamily="34" charset="-120"/>
              </a:rPr>
              <a:t>We will analyze pilot data to identify trends and areas for improvement, allowing us to refine AI algorithms and enhance customer engagement strategies.
</a:t>
            </a:r>
            <a:endParaRPr lang="en-US" sz="1100" dirty="0"/>
          </a:p>
        </p:txBody>
      </p:sp>
      <p:sp>
        <p:nvSpPr>
          <p:cNvPr id="15" name="Shape 13"/>
          <p:cNvSpPr/>
          <p:nvPr/>
        </p:nvSpPr>
        <p:spPr>
          <a:xfrm>
            <a:off x="948507" y="1594802"/>
            <a:ext cx="282568" cy="282570"/>
          </a:xfrm>
          <a:prstGeom prst="ellipse">
            <a:avLst/>
          </a:prstGeom>
          <a:solidFill>
            <a:srgbClr val="7C3AED"/>
          </a:solidFill>
          <a:ln/>
        </p:spPr>
      </p:sp>
      <p:sp>
        <p:nvSpPr>
          <p:cNvPr id="16" name="Text 14"/>
          <p:cNvSpPr/>
          <p:nvPr/>
        </p:nvSpPr>
        <p:spPr>
          <a:xfrm>
            <a:off x="948507" y="1594802"/>
            <a:ext cx="282568" cy="282570"/>
          </a:xfrm>
          <a:prstGeom prst="rect">
            <a:avLst/>
          </a:prstGeom>
          <a:solidFill>
            <a:srgbClr val="7C3AED"/>
          </a:solidFill>
          <a:ln/>
        </p:spPr>
        <p:txBody>
          <a:bodyPr wrap="square" lIns="0" tIns="0" rIns="0" bIns="0" rtlCol="0" anchor="t"/>
          <a:lstStyle/>
          <a:p>
            <a:pPr algn="ctr" indent="0" marL="0">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17" name="Shape 15"/>
          <p:cNvSpPr/>
          <p:nvPr/>
        </p:nvSpPr>
        <p:spPr>
          <a:xfrm>
            <a:off x="948507" y="2803655"/>
            <a:ext cx="282568" cy="282564"/>
          </a:xfrm>
          <a:prstGeom prst="ellipse">
            <a:avLst/>
          </a:prstGeom>
          <a:solidFill>
            <a:srgbClr val="7C3AED"/>
          </a:solidFill>
          <a:ln/>
        </p:spPr>
      </p:sp>
      <p:sp>
        <p:nvSpPr>
          <p:cNvPr id="18" name="Text 16"/>
          <p:cNvSpPr/>
          <p:nvPr/>
        </p:nvSpPr>
        <p:spPr>
          <a:xfrm>
            <a:off x="948507" y="2803655"/>
            <a:ext cx="282568" cy="282564"/>
          </a:xfrm>
          <a:prstGeom prst="rect">
            <a:avLst/>
          </a:prstGeom>
          <a:solidFill>
            <a:srgbClr val="7C3AED"/>
          </a:solidFill>
          <a:ln/>
        </p:spPr>
        <p:txBody>
          <a:bodyPr wrap="square" lIns="0" tIns="0" rIns="0" bIns="0" rtlCol="0" anchor="t"/>
          <a:lstStyle/>
          <a:p>
            <a:pPr algn="ctr" indent="0" marL="0">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19" name="Shape 17"/>
          <p:cNvSpPr/>
          <p:nvPr/>
        </p:nvSpPr>
        <p:spPr>
          <a:xfrm>
            <a:off x="948507" y="4012503"/>
            <a:ext cx="282568" cy="282570"/>
          </a:xfrm>
          <a:prstGeom prst="ellipse">
            <a:avLst/>
          </a:prstGeom>
          <a:solidFill>
            <a:srgbClr val="7C3AED"/>
          </a:solidFill>
          <a:ln/>
        </p:spPr>
      </p:sp>
      <p:sp>
        <p:nvSpPr>
          <p:cNvPr id="20" name="Text 18"/>
          <p:cNvSpPr/>
          <p:nvPr/>
        </p:nvSpPr>
        <p:spPr>
          <a:xfrm>
            <a:off x="948507" y="4012503"/>
            <a:ext cx="282568" cy="282570"/>
          </a:xfrm>
          <a:prstGeom prst="rect">
            <a:avLst/>
          </a:prstGeom>
          <a:solidFill>
            <a:srgbClr val="7C3AED"/>
          </a:solidFill>
          <a:ln/>
        </p:spPr>
        <p:txBody>
          <a:bodyPr wrap="square" lIns="0" tIns="0" rIns="0" bIns="0" rtlCol="0" anchor="t"/>
          <a:lstStyle/>
          <a:p>
            <a:pPr algn="ctr" indent="0" marL="0">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21" name="Shape 19"/>
          <p:cNvSpPr/>
          <p:nvPr/>
        </p:nvSpPr>
        <p:spPr>
          <a:xfrm>
            <a:off x="948507" y="5221355"/>
            <a:ext cx="282568" cy="282570"/>
          </a:xfrm>
          <a:prstGeom prst="ellipse">
            <a:avLst/>
          </a:prstGeom>
          <a:solidFill>
            <a:srgbClr val="7C3AED"/>
          </a:solidFill>
          <a:ln/>
        </p:spPr>
      </p:sp>
      <p:sp>
        <p:nvSpPr>
          <p:cNvPr id="22" name="Text 20"/>
          <p:cNvSpPr/>
          <p:nvPr/>
        </p:nvSpPr>
        <p:spPr>
          <a:xfrm>
            <a:off x="948507" y="5221355"/>
            <a:ext cx="282568" cy="282570"/>
          </a:xfrm>
          <a:prstGeom prst="rect">
            <a:avLst/>
          </a:prstGeom>
          <a:solidFill>
            <a:srgbClr val="7C3AED"/>
          </a:solidFill>
          <a:ln/>
        </p:spPr>
        <p:txBody>
          <a:bodyPr wrap="square" lIns="0" tIns="0" rIns="0" bIns="0" rtlCol="0" anchor="t"/>
          <a:lstStyle/>
          <a:p>
            <a:pPr algn="ctr" indent="0" marL="0">
              <a:lnSpc>
                <a:spcPct val="200000"/>
              </a:lnSpc>
              <a:buNone/>
            </a:pPr>
            <a:r>
              <a:rPr lang="en-US" sz="1200" b="1" dirty="0">
                <a:solidFill>
                  <a:srgbClr val="FFFFFF"/>
                </a:solidFill>
                <a:latin typeface="Calibri" pitchFamily="34" charset="0"/>
                <a:ea typeface="Calibri" pitchFamily="34" charset="-122"/>
                <a:cs typeface="Calibri" pitchFamily="34" charset="-120"/>
              </a:rPr>
              <a:t>?
</a:t>
            </a:r>
            <a:endParaRPr lang="en-US" sz="1200" dirty="0"/>
          </a:p>
        </p:txBody>
      </p:sp>
      <p:sp>
        <p:nvSpPr>
          <p:cNvPr id="23" name="Text 2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4713368" y="2098227"/>
            <a:ext cx="2764761" cy="437145"/>
          </a:xfrm>
          <a:prstGeom prst="rect">
            <a:avLst/>
          </a:prstGeom>
          <a:noFill/>
          <a:ln/>
        </p:spPr>
        <p:txBody>
          <a:bodyPr wrap="square" lIns="1016" tIns="1016" rIns="1016" bIns="1016" rtlCol="0" anchor="t"/>
          <a:lstStyle/>
          <a:p>
            <a:pPr algn="ctr" indent="0" marL="0">
              <a:lnSpc>
                <a:spcPct val="118725"/>
              </a:lnSpc>
              <a:buNone/>
            </a:pPr>
            <a:r>
              <a:rPr lang="en-US" sz="2600" b="1" dirty="0">
                <a:solidFill>
                  <a:srgbClr val="0F172A"/>
                </a:solidFill>
                <a:latin typeface="Segoe UI" pitchFamily="34" charset="0"/>
                <a:ea typeface="Segoe UI" pitchFamily="34" charset="-122"/>
                <a:cs typeface="Segoe UI" pitchFamily="34" charset="-120"/>
              </a:rPr>
              <a:t>Key Takeaways
</a:t>
            </a:r>
            <a:endParaRPr lang="en-US" sz="2600" dirty="0"/>
          </a:p>
        </p:txBody>
      </p:sp>
      <p:sp>
        <p:nvSpPr>
          <p:cNvPr id="3" name="Text 1"/>
          <p:cNvSpPr/>
          <p:nvPr/>
        </p:nvSpPr>
        <p:spPr>
          <a:xfrm>
            <a:off x="1927970" y="3081856"/>
            <a:ext cx="8335754" cy="2312731"/>
          </a:xfrm>
          <a:prstGeom prst="rect">
            <a:avLst/>
          </a:prstGeom>
          <a:noFill/>
          <a:ln/>
        </p:spPr>
        <p:txBody>
          <a:bodyPr wrap="square" lIns="1016" tIns="1016" rIns="1016" bIns="1016" rtlCol="0" anchor="t"/>
          <a:lstStyle/>
          <a:p>
            <a:pPr algn="ctr" indent="0" marL="0">
              <a:lnSpc>
                <a:spcPct val="162588"/>
              </a:lnSpc>
              <a:buNone/>
            </a:pPr>
            <a:r>
              <a:rPr lang="en-US" sz="1400" dirty="0">
                <a:solidFill>
                  <a:srgbClr val="475569"/>
                </a:solidFill>
                <a:latin typeface="Segoe UI" pitchFamily="34" charset="0"/>
                <a:ea typeface="Segoe UI" pitchFamily="34" charset="-122"/>
                <a:cs typeface="Segoe UI" pitchFamily="34" charset="-120"/>
              </a:rPr>
              <a:t>In summary, our analysis reveals critical insights: a 15.63% overall conversion rate, significant seasonal trends with peaks in November, and stark traffic quality differences. New visitors convert at 24.93%, while returning visitors lag at 14.09%. To optimize performance, we recommend focusing on enhancing returning visitor engagement, leveraging high-quality traffic sources, and capitalizing on seasonal trends. Future efforts should prioritize targeted interventions to boost conversions and recover lost revenue opportunities.
</a:t>
            </a:r>
            <a:endParaRPr lang="en-US" sz="1400" dirty="0"/>
          </a:p>
        </p:txBody>
      </p:sp>
      <p:sp>
        <p:nvSpPr>
          <p:cNvPr id="4" name="Shape 2"/>
          <p:cNvSpPr/>
          <p:nvPr/>
        </p:nvSpPr>
        <p:spPr>
          <a:xfrm>
            <a:off x="5755734" y="2778254"/>
            <a:ext cx="680029" cy="60720"/>
          </a:xfrm>
          <a:prstGeom prst="ellipse">
            <a:avLst/>
          </a:prstGeom>
          <a:solidFill>
            <a:srgbClr val="7C3AED"/>
          </a:solidFill>
          <a:ln/>
        </p:spPr>
      </p:sp>
      <p:sp>
        <p:nvSpPr>
          <p:cNvPr id="5"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2026-09-01T05:32:13Z</dcterms:created>
  <dcterms:modified xsi:type="dcterms:W3CDTF">2026-09-01T05:32:13Z</dcterms:modified>
</cp:coreProperties>
</file>